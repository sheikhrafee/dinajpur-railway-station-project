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1"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1" dt="2026-08-31T03:34:01.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40E0235-6696-481E-A48C-E82ECCFDD159}" type="datetimeFigureOut">
              <a:t>8/30/2026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44C08CC9-2504-4629-9A43-59B4F0357BA9}" type="slidenum">
              <a:t>‹#›</a:t>
            </a:fld>
            <a:endParaRPr lang="en-US"/>
          </a:p>
        </p:txBody>
      </p:sp>
    </p:spTree>
    <p:extLst>
      <p:ext uri="{BB962C8B-B14F-4D97-AF65-F5344CB8AC3E}">
        <p14:creationId xmlns:p14="http://schemas.microsoft.com/office/powerpoint/2010/main" val="2496296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board is the same name board that appears in the scene itself.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fully hand-drawn geometry, no textures or imported images.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familiarity, primitive coverage, natural motion, and perspective depth.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The RIGHT arrow was added so the through train's whistle never overlaps the other train's sound.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Each is the same geometry under a different GL_LIGHT_MODEL_AMBIENT colour.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key-triggered through train. Right: a single frame from the middle of the dusk transition.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7.pn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C3D"/>
        </a:solidFill>
        <a:effectLst/>
      </p:bgPr>
    </p:bg>
    <p:spTree>
      <p:nvGrpSpPr>
        <p:cNvPr id="1" name=""/>
        <p:cNvGrpSpPr/>
        <p:nvPr/>
      </p:nvGrpSpPr>
      <p:grpSpPr>
        <a:xfrm>
          <a:off x="0" y="0"/>
          <a:ext cx="0" cy="0"/>
          <a:chOff x="0" y="0"/>
          <a:chExt cx="0" cy="0"/>
        </a:xfrm>
      </p:grpSpPr>
      <p:pic>
        <p:nvPicPr>
          <p:cNvPr id="2" name="Image 0" descr="/home/claude/work/shots/night.png"/>
          <p:cNvPicPr>
            <a:picLocks noChangeAspect="1"/>
          </p:cNvPicPr>
          <p:nvPr/>
        </p:nvPicPr>
        <p:blipFill>
          <a:blip r:embed="rId4"/>
          <a:stretch>
            <a:fillRect/>
          </a:stretch>
        </p:blipFill>
        <p:spPr>
          <a:xfrm>
            <a:off x="-758952" y="0"/>
            <a:ext cx="13716000" cy="6858000"/>
          </a:xfrm>
          <a:prstGeom prst="rect">
            <a:avLst/>
          </a:prstGeom>
        </p:spPr>
      </p:pic>
      <p:sp>
        <p:nvSpPr>
          <p:cNvPr id="3" name="Shape 0"/>
          <p:cNvSpPr/>
          <p:nvPr/>
        </p:nvSpPr>
        <p:spPr>
          <a:xfrm>
            <a:off x="0" y="0"/>
            <a:ext cx="12191695" cy="6858000"/>
          </a:xfrm>
          <a:prstGeom prst="rect">
            <a:avLst/>
          </a:prstGeom>
          <a:solidFill>
            <a:srgbClr val="101C3D">
              <a:alpha val="78000"/>
            </a:srgbClr>
          </a:solidFill>
          <a:ln w="12700">
            <a:solidFill>
              <a:srgbClr val="333333"/>
            </a:solidFill>
            <a:prstDash val="solid"/>
          </a:ln>
        </p:spPr>
        <p:txBody>
          <a:bodyPr/>
          <a:p/>
        </p:txBody>
      </p:sp>
      <p:sp>
        <p:nvSpPr>
          <p:cNvPr id="4" name="Shape 1"/>
          <p:cNvSpPr/>
          <p:nvPr/>
        </p:nvSpPr>
        <p:spPr>
          <a:xfrm>
            <a:off x="2798064" y="1481328"/>
            <a:ext cx="6601968" cy="2157984"/>
          </a:xfrm>
          <a:prstGeom prst="rect">
            <a:avLst/>
          </a:prstGeom>
          <a:solidFill>
            <a:srgbClr val="2A2622"/>
          </a:solidFill>
          <a:ln w="12700">
            <a:solidFill>
              <a:srgbClr val="333333"/>
            </a:solidFill>
            <a:prstDash val="solid"/>
          </a:ln>
        </p:spPr>
        <p:txBody>
          <a:bodyPr/>
          <a:p/>
        </p:txBody>
      </p:sp>
      <p:sp>
        <p:nvSpPr>
          <p:cNvPr id="5" name="Shape 2"/>
          <p:cNvSpPr/>
          <p:nvPr/>
        </p:nvSpPr>
        <p:spPr>
          <a:xfrm>
            <a:off x="2926080" y="1609344"/>
            <a:ext cx="6345936" cy="1901952"/>
          </a:xfrm>
          <a:prstGeom prst="rect">
            <a:avLst/>
          </a:prstGeom>
          <a:solidFill>
            <a:srgbClr val="F2EADA"/>
          </a:solidFill>
          <a:ln w="25400">
            <a:solidFill>
              <a:srgbClr val="2A2622"/>
            </a:solidFill>
            <a:prstDash val="solid"/>
          </a:ln>
        </p:spPr>
        <p:txBody>
          <a:bodyPr/>
          <a:p/>
        </p:txBody>
      </p:sp>
      <p:sp>
        <p:nvSpPr>
          <p:cNvPr id="6" name="Text 3"/>
          <p:cNvSpPr txBox="1"/>
          <p:nvPr/>
        </p:nvSpPr>
        <p:spPr>
          <a:xfrm>
            <a:off x="2926080" y="1755648"/>
            <a:ext cx="6345936" cy="932688"/>
          </a:xfrm>
          <a:prstGeom prst="rect">
            <a:avLst/>
          </a:prstGeom>
          <a:noFill/>
          <a:ln/>
        </p:spPr>
        <p:txBody>
          <a:bodyPr wrap="square" lIns="0" tIns="0" rIns="0" bIns="0" rtlCol="0" anchor="ctr"/>
          <a:lstStyle/>
          <a:p>
            <a:pPr marL="0" indent="0" algn="ctr">
              <a:buNone/>
            </a:pPr>
            <a:r>
              <a:rPr lang="en-US" sz="5200" b="1" kern="0" spc="500" dirty="0">
                <a:solidFill>
                  <a:srgbClr val="2A2622"/>
                </a:solidFill>
                <a:latin typeface="Cambria" pitchFamily="34" charset="0"/>
                <a:ea typeface="Cambria" pitchFamily="34" charset="-122"/>
                <a:cs typeface="Cambria" pitchFamily="34" charset="-120"/>
              </a:rPr>
              <a:t>DINAJPUR</a:t>
            </a:r>
            <a:endParaRPr lang="en-US" sz="5200" dirty="0"/>
          </a:p>
        </p:txBody>
      </p:sp>
      <p:sp>
        <p:nvSpPr>
          <p:cNvPr id="7" name="Text 4"/>
          <p:cNvSpPr txBox="1"/>
          <p:nvPr/>
        </p:nvSpPr>
        <p:spPr>
          <a:xfrm>
            <a:off x="2926080" y="2670048"/>
            <a:ext cx="6345936" cy="457200"/>
          </a:xfrm>
          <a:prstGeom prst="rect">
            <a:avLst/>
          </a:prstGeom>
          <a:noFill/>
          <a:ln/>
        </p:spPr>
        <p:txBody>
          <a:bodyPr wrap="square" lIns="0" tIns="0" rIns="0" bIns="0" rtlCol="0" anchor="ctr"/>
          <a:lstStyle/>
          <a:p>
            <a:pPr marL="0" indent="0" algn="ctr">
              <a:buNone/>
            </a:pPr>
            <a:r>
              <a:rPr lang="en-US" sz="1900" b="1" kern="0" spc="700" dirty="0">
                <a:solidFill>
                  <a:srgbClr val="6A3B2E"/>
                </a:solidFill>
                <a:latin typeface="Calibri" pitchFamily="34" charset="0"/>
                <a:ea typeface="Calibri" pitchFamily="34" charset="-122"/>
                <a:cs typeface="Calibri" pitchFamily="34" charset="-120"/>
              </a:rPr>
              <a:t>RAILWAY  STATION</a:t>
            </a:r>
            <a:endParaRPr lang="en-US" sz="1900" dirty="0"/>
          </a:p>
        </p:txBody>
      </p:sp>
      <p:sp>
        <p:nvSpPr>
          <p:cNvPr id="8" name="Shape 5"/>
          <p:cNvSpPr/>
          <p:nvPr/>
        </p:nvSpPr>
        <p:spPr>
          <a:xfrm>
            <a:off x="4480560" y="3639312"/>
            <a:ext cx="274320" cy="786384"/>
          </a:xfrm>
          <a:prstGeom prst="rect">
            <a:avLst/>
          </a:prstGeom>
          <a:solidFill>
            <a:srgbClr val="BE4A36"/>
          </a:solidFill>
          <a:ln w="12700">
            <a:solidFill>
              <a:srgbClr val="333333"/>
            </a:solidFill>
            <a:prstDash val="solid"/>
          </a:ln>
        </p:spPr>
        <p:txBody>
          <a:bodyPr/>
          <a:p/>
        </p:txBody>
      </p:sp>
      <p:sp>
        <p:nvSpPr>
          <p:cNvPr id="9" name="Shape 6"/>
          <p:cNvSpPr/>
          <p:nvPr/>
        </p:nvSpPr>
        <p:spPr>
          <a:xfrm>
            <a:off x="7443216" y="3639312"/>
            <a:ext cx="274320" cy="786384"/>
          </a:xfrm>
          <a:prstGeom prst="rect">
            <a:avLst/>
          </a:prstGeom>
          <a:solidFill>
            <a:srgbClr val="BE4A36"/>
          </a:solidFill>
          <a:ln w="12700">
            <a:solidFill>
              <a:srgbClr val="333333"/>
            </a:solidFill>
            <a:prstDash val="solid"/>
          </a:ln>
        </p:spPr>
        <p:txBody>
          <a:bodyPr/>
          <a:p/>
        </p:txBody>
      </p:sp>
      <p:sp>
        <p:nvSpPr>
          <p:cNvPr id="10" name="Text 7"/>
          <p:cNvSpPr txBox="1"/>
          <p:nvPr/>
        </p:nvSpPr>
        <p:spPr>
          <a:xfrm>
            <a:off x="2011680" y="4590288"/>
            <a:ext cx="8165592" cy="384048"/>
          </a:xfrm>
          <a:prstGeom prst="rect">
            <a:avLst/>
          </a:prstGeom>
          <a:noFill/>
          <a:ln/>
        </p:spPr>
        <p:txBody>
          <a:bodyPr wrap="square" lIns="0" tIns="0" rIns="0" bIns="0" rtlCol="0" anchor="ctr"/>
          <a:lstStyle/>
          <a:p>
            <a:pPr marL="0" indent="0" algn="ctr">
              <a:buNone/>
            </a:pPr>
            <a:r>
              <a:rPr lang="en-US" sz="1700" dirty="0">
                <a:solidFill>
                  <a:srgbClr val="EAEFF8"/>
                </a:solidFill>
                <a:latin typeface="Calibri" pitchFamily="34" charset="0"/>
                <a:ea typeface="Calibri" pitchFamily="34" charset="-122"/>
                <a:cs typeface="Calibri" pitchFamily="34" charset="-120"/>
              </a:rPr>
              <a:t>A 2D animated scene built in C++ with OpenGL and GLUT</a:t>
            </a:r>
            <a:endParaRPr lang="en-US" sz="1700" dirty="0"/>
          </a:p>
        </p:txBody>
      </p:sp>
      <p:sp>
        <p:nvSpPr>
          <p:cNvPr id="11" name="Text 8"/>
          <p:cNvSpPr txBox="1"/>
          <p:nvPr/>
        </p:nvSpPr>
        <p:spPr>
          <a:xfrm>
            <a:off x="1828800" y="4992624"/>
            <a:ext cx="8531352" cy="329184"/>
          </a:xfrm>
          <a:prstGeom prst="rect">
            <a:avLst/>
          </a:prstGeom>
          <a:noFill/>
          <a:ln/>
        </p:spPr>
        <p:txBody>
          <a:bodyPr wrap="square" lIns="0" tIns="0" rIns="0" bIns="0" rtlCol="0" anchor="ctr"/>
          <a:lstStyle/>
          <a:p>
            <a:pPr algn="ctr"/>
            <a:r>
              <a:rPr lang="en-US" sz="1250" i="1">
                <a:solidFill>
                  <a:srgbClr val="F0C43C"/>
                </a:solidFill>
                <a:latin typeface="Calibri"/>
                <a:ea typeface="Calibri"/>
                <a:cs typeface="Calibri"/>
              </a:rPr>
              <a:t>Day  ·  Night  ·  Rain on demand    two trains of three coaches, six passengers, three soundscapes</a:t>
            </a:r>
            <a:endParaRPr lang="en-US" sz="1250">
              <a:latin typeface="Calibri"/>
              <a:ea typeface="Calibri"/>
              <a:cs typeface="Calibri"/>
            </a:endParaRPr>
          </a:p>
        </p:txBody>
      </p:sp>
      <p:sp>
        <p:nvSpPr>
          <p:cNvPr id="12" name="Shape 9"/>
          <p:cNvSpPr/>
          <p:nvPr/>
        </p:nvSpPr>
        <p:spPr>
          <a:xfrm>
            <a:off x="5431536" y="5742432"/>
            <a:ext cx="1325880" cy="365760"/>
          </a:xfrm>
          <a:prstGeom prst="roundRect">
            <a:avLst>
              <a:gd name="adj" fmla="val 15000"/>
            </a:avLst>
          </a:prstGeom>
          <a:solidFill>
            <a:srgbClr val="1C3586"/>
          </a:solidFill>
          <a:ln w="12700">
            <a:solidFill>
              <a:srgbClr val="EAEFF8"/>
            </a:solidFill>
            <a:prstDash val="solid"/>
          </a:ln>
        </p:spPr>
      </p:sp>
      <p:sp>
        <p:nvSpPr>
          <p:cNvPr id="13" name="Text 10"/>
          <p:cNvSpPr txBox="1"/>
          <p:nvPr/>
        </p:nvSpPr>
        <p:spPr>
          <a:xfrm>
            <a:off x="5431536" y="5742432"/>
            <a:ext cx="1325880" cy="365760"/>
          </a:xfrm>
          <a:prstGeom prst="rect">
            <a:avLst/>
          </a:prstGeom>
          <a:noFill/>
          <a:ln/>
        </p:spPr>
        <p:txBody>
          <a:bodyPr wrap="square" lIns="0" tIns="0" rIns="0" bIns="0" rtlCol="0" anchor="ctr"/>
          <a:lstStyle/>
          <a:p>
            <a:pPr marL="0" indent="0" algn="ctr">
              <a:buNone/>
            </a:pPr>
            <a:r>
              <a:rPr lang="en-US" sz="1100" b="1" kern="0" spc="160" dirty="0">
                <a:solidFill>
                  <a:srgbClr val="EAEFF8"/>
                </a:solidFill>
                <a:latin typeface="Calibri" pitchFamily="34" charset="0"/>
                <a:ea typeface="Calibri" pitchFamily="34" charset="-122"/>
                <a:cs typeface="Calibri" pitchFamily="34" charset="-120"/>
              </a:rPr>
              <a:t>PLATFORM 2</a:t>
            </a:r>
            <a:endParaRPr lang="en-US" sz="1100" dirty="0"/>
          </a:p>
        </p:txBody>
      </p:sp>
      <p:sp>
        <p:nvSpPr>
          <p:cNvPr id="14" name="Text 11"/>
          <p:cNvSpPr txBox="1"/>
          <p:nvPr/>
        </p:nvSpPr>
        <p:spPr>
          <a:xfrm>
            <a:off x="2011680" y="6199632"/>
            <a:ext cx="8165592" cy="274320"/>
          </a:xfrm>
          <a:prstGeom prst="rect">
            <a:avLst/>
          </a:prstGeom>
          <a:noFill/>
          <a:ln/>
        </p:spPr>
        <p:txBody>
          <a:bodyPr wrap="square" lIns="0" tIns="0" rIns="0" bIns="0" rtlCol="0" anchor="ctr"/>
          <a:lstStyle/>
          <a:p>
            <a:pPr algn="ctr"/>
            <a:r>
              <a:rPr lang="en-US" sz="1100" kern="0" spc="200">
                <a:solidFill>
                  <a:srgbClr val="97A7C7"/>
                </a:solidFill>
                <a:latin typeface="Calibri"/>
                <a:ea typeface="Calibri"/>
                <a:cs typeface="Calibri"/>
              </a:rPr>
              <a:t>Computer Graphics - Lab Project</a:t>
            </a:r>
            <a:endParaRPr lang="en-US" sz="1100">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C3D"/>
        </a:solidFill>
        <a:effectLst/>
      </p:bgPr>
    </p:bg>
    <p:spTree>
      <p:nvGrpSpPr>
        <p:cNvPr id="1" name=""/>
        <p:cNvGrpSpPr/>
        <p:nvPr/>
      </p:nvGrpSpPr>
      <p:grpSpPr>
        <a:xfrm>
          <a:off x="0" y="0"/>
          <a:ext cx="0" cy="0"/>
          <a:chOff x="0" y="0"/>
          <a:chExt cx="0" cy="0"/>
        </a:xfrm>
      </p:grpSpPr>
      <p:sp>
        <p:nvSpPr>
          <p:cNvPr id="2" name="Shape 0"/>
          <p:cNvSpPr/>
          <p:nvPr/>
        </p:nvSpPr>
        <p:spPr>
          <a:xfrm>
            <a:off x="8071396" y="980005"/>
            <a:ext cx="48382" cy="48382"/>
          </a:xfrm>
          <a:prstGeom prst="ellipse">
            <a:avLst/>
          </a:prstGeom>
          <a:solidFill>
            <a:srgbClr val="FFFFFF">
              <a:alpha val="70000"/>
            </a:srgbClr>
          </a:solidFill>
          <a:ln w="12700">
            <a:solidFill>
              <a:srgbClr val="333333"/>
            </a:solidFill>
            <a:prstDash val="solid"/>
          </a:ln>
        </p:spPr>
        <p:txBody>
          <a:bodyPr/>
          <a:p/>
        </p:txBody>
      </p:sp>
      <p:sp>
        <p:nvSpPr>
          <p:cNvPr id="3" name="Shape 1"/>
          <p:cNvSpPr/>
          <p:nvPr/>
        </p:nvSpPr>
        <p:spPr>
          <a:xfrm>
            <a:off x="9469490" y="962531"/>
            <a:ext cx="59082" cy="59082"/>
          </a:xfrm>
          <a:prstGeom prst="ellipse">
            <a:avLst/>
          </a:prstGeom>
          <a:solidFill>
            <a:srgbClr val="FFFFFF">
              <a:alpha val="70000"/>
            </a:srgbClr>
          </a:solidFill>
          <a:ln w="12700">
            <a:solidFill>
              <a:srgbClr val="333333"/>
            </a:solidFill>
            <a:prstDash val="solid"/>
          </a:ln>
        </p:spPr>
        <p:txBody>
          <a:bodyPr/>
          <a:p/>
        </p:txBody>
      </p:sp>
      <p:sp>
        <p:nvSpPr>
          <p:cNvPr id="4" name="Shape 2"/>
          <p:cNvSpPr/>
          <p:nvPr/>
        </p:nvSpPr>
        <p:spPr>
          <a:xfrm>
            <a:off x="10381036" y="355571"/>
            <a:ext cx="55867" cy="55867"/>
          </a:xfrm>
          <a:prstGeom prst="ellipse">
            <a:avLst/>
          </a:prstGeom>
          <a:solidFill>
            <a:srgbClr val="FFFFFF">
              <a:alpha val="70000"/>
            </a:srgbClr>
          </a:solidFill>
          <a:ln w="12700">
            <a:solidFill>
              <a:srgbClr val="333333"/>
            </a:solidFill>
            <a:prstDash val="solid"/>
          </a:ln>
        </p:spPr>
        <p:txBody>
          <a:bodyPr/>
          <a:p/>
        </p:txBody>
      </p:sp>
      <p:sp>
        <p:nvSpPr>
          <p:cNvPr id="5" name="Shape 3"/>
          <p:cNvSpPr/>
          <p:nvPr/>
        </p:nvSpPr>
        <p:spPr>
          <a:xfrm>
            <a:off x="7735366" y="514165"/>
            <a:ext cx="59364" cy="59364"/>
          </a:xfrm>
          <a:prstGeom prst="ellipse">
            <a:avLst/>
          </a:prstGeom>
          <a:solidFill>
            <a:srgbClr val="FFFFFF">
              <a:alpha val="70000"/>
            </a:srgbClr>
          </a:solidFill>
          <a:ln w="12700">
            <a:solidFill>
              <a:srgbClr val="333333"/>
            </a:solidFill>
            <a:prstDash val="solid"/>
          </a:ln>
        </p:spPr>
        <p:txBody>
          <a:bodyPr/>
          <a:p/>
        </p:txBody>
      </p:sp>
      <p:sp>
        <p:nvSpPr>
          <p:cNvPr id="6" name="Shape 4"/>
          <p:cNvSpPr/>
          <p:nvPr/>
        </p:nvSpPr>
        <p:spPr>
          <a:xfrm>
            <a:off x="7170761" y="768767"/>
            <a:ext cx="59237" cy="59237"/>
          </a:xfrm>
          <a:prstGeom prst="ellipse">
            <a:avLst/>
          </a:prstGeom>
          <a:solidFill>
            <a:srgbClr val="FFFFFF">
              <a:alpha val="70000"/>
            </a:srgbClr>
          </a:solidFill>
          <a:ln w="12700">
            <a:solidFill>
              <a:srgbClr val="333333"/>
            </a:solidFill>
            <a:prstDash val="solid"/>
          </a:ln>
        </p:spPr>
        <p:txBody>
          <a:bodyPr/>
          <a:p/>
        </p:txBody>
      </p:sp>
      <p:sp>
        <p:nvSpPr>
          <p:cNvPr id="7" name="Shape 5"/>
          <p:cNvSpPr/>
          <p:nvPr/>
        </p:nvSpPr>
        <p:spPr>
          <a:xfrm>
            <a:off x="7219346" y="1155417"/>
            <a:ext cx="32834" cy="32834"/>
          </a:xfrm>
          <a:prstGeom prst="ellipse">
            <a:avLst/>
          </a:prstGeom>
          <a:solidFill>
            <a:srgbClr val="FFFFFF">
              <a:alpha val="70000"/>
            </a:srgbClr>
          </a:solidFill>
          <a:ln w="12700">
            <a:solidFill>
              <a:srgbClr val="333333"/>
            </a:solidFill>
            <a:prstDash val="solid"/>
          </a:ln>
        </p:spPr>
        <p:txBody>
          <a:bodyPr/>
          <a:p/>
        </p:txBody>
      </p:sp>
      <p:sp>
        <p:nvSpPr>
          <p:cNvPr id="8" name="Shape 6"/>
          <p:cNvSpPr/>
          <p:nvPr/>
        </p:nvSpPr>
        <p:spPr>
          <a:xfrm>
            <a:off x="9984583" y="1245583"/>
            <a:ext cx="57352" cy="57352"/>
          </a:xfrm>
          <a:prstGeom prst="ellipse">
            <a:avLst/>
          </a:prstGeom>
          <a:solidFill>
            <a:srgbClr val="FFFFFF">
              <a:alpha val="70000"/>
            </a:srgbClr>
          </a:solidFill>
          <a:ln w="12700">
            <a:solidFill>
              <a:srgbClr val="333333"/>
            </a:solidFill>
            <a:prstDash val="solid"/>
          </a:ln>
        </p:spPr>
        <p:txBody>
          <a:bodyPr/>
          <a:p/>
        </p:txBody>
      </p:sp>
      <p:sp>
        <p:nvSpPr>
          <p:cNvPr id="9" name="Shape 7"/>
          <p:cNvSpPr/>
          <p:nvPr/>
        </p:nvSpPr>
        <p:spPr>
          <a:xfrm>
            <a:off x="9266792" y="918149"/>
            <a:ext cx="33752" cy="33752"/>
          </a:xfrm>
          <a:prstGeom prst="ellipse">
            <a:avLst/>
          </a:prstGeom>
          <a:solidFill>
            <a:srgbClr val="FFFFFF">
              <a:alpha val="70000"/>
            </a:srgbClr>
          </a:solidFill>
          <a:ln w="12700">
            <a:solidFill>
              <a:srgbClr val="333333"/>
            </a:solidFill>
            <a:prstDash val="solid"/>
          </a:ln>
        </p:spPr>
        <p:txBody>
          <a:bodyPr/>
          <a:p/>
        </p:txBody>
      </p:sp>
      <p:sp>
        <p:nvSpPr>
          <p:cNvPr id="10" name="Shape 8"/>
          <p:cNvSpPr/>
          <p:nvPr/>
        </p:nvSpPr>
        <p:spPr>
          <a:xfrm>
            <a:off x="10294780" y="348033"/>
            <a:ext cx="37597" cy="37597"/>
          </a:xfrm>
          <a:prstGeom prst="ellipse">
            <a:avLst/>
          </a:prstGeom>
          <a:solidFill>
            <a:srgbClr val="FFFFFF">
              <a:alpha val="70000"/>
            </a:srgbClr>
          </a:solidFill>
          <a:ln w="12700">
            <a:solidFill>
              <a:srgbClr val="333333"/>
            </a:solidFill>
            <a:prstDash val="solid"/>
          </a:ln>
        </p:spPr>
        <p:txBody>
          <a:bodyPr/>
          <a:p/>
        </p:txBody>
      </p:sp>
      <p:sp>
        <p:nvSpPr>
          <p:cNvPr id="11" name="Shape 9"/>
          <p:cNvSpPr/>
          <p:nvPr/>
        </p:nvSpPr>
        <p:spPr>
          <a:xfrm>
            <a:off x="7498090" y="292352"/>
            <a:ext cx="54025" cy="54025"/>
          </a:xfrm>
          <a:prstGeom prst="ellipse">
            <a:avLst/>
          </a:prstGeom>
          <a:solidFill>
            <a:srgbClr val="FFFFFF">
              <a:alpha val="70000"/>
            </a:srgbClr>
          </a:solidFill>
          <a:ln w="12700">
            <a:solidFill>
              <a:srgbClr val="333333"/>
            </a:solidFill>
            <a:prstDash val="solid"/>
          </a:ln>
        </p:spPr>
        <p:txBody>
          <a:bodyPr/>
          <a:p/>
        </p:txBody>
      </p:sp>
      <p:sp>
        <p:nvSpPr>
          <p:cNvPr id="12" name="Shape 10"/>
          <p:cNvSpPr/>
          <p:nvPr/>
        </p:nvSpPr>
        <p:spPr>
          <a:xfrm>
            <a:off x="9719185" y="1408442"/>
            <a:ext cx="51659" cy="51659"/>
          </a:xfrm>
          <a:prstGeom prst="ellipse">
            <a:avLst/>
          </a:prstGeom>
          <a:solidFill>
            <a:srgbClr val="FFFFFF">
              <a:alpha val="70000"/>
            </a:srgbClr>
          </a:solidFill>
          <a:ln w="12700">
            <a:solidFill>
              <a:srgbClr val="333333"/>
            </a:solidFill>
            <a:prstDash val="solid"/>
          </a:ln>
        </p:spPr>
        <p:txBody>
          <a:bodyPr/>
          <a:p/>
        </p:txBody>
      </p:sp>
      <p:sp>
        <p:nvSpPr>
          <p:cNvPr id="13" name="Shape 11"/>
          <p:cNvSpPr/>
          <p:nvPr/>
        </p:nvSpPr>
        <p:spPr>
          <a:xfrm>
            <a:off x="10083082" y="1247297"/>
            <a:ext cx="54433" cy="54433"/>
          </a:xfrm>
          <a:prstGeom prst="ellipse">
            <a:avLst/>
          </a:prstGeom>
          <a:solidFill>
            <a:srgbClr val="FFFFFF">
              <a:alpha val="70000"/>
            </a:srgbClr>
          </a:solidFill>
          <a:ln w="12700">
            <a:solidFill>
              <a:srgbClr val="333333"/>
            </a:solidFill>
            <a:prstDash val="solid"/>
          </a:ln>
        </p:spPr>
        <p:txBody>
          <a:bodyPr/>
          <a:p/>
        </p:txBody>
      </p:sp>
      <p:sp>
        <p:nvSpPr>
          <p:cNvPr id="14" name="Shape 12"/>
          <p:cNvSpPr/>
          <p:nvPr/>
        </p:nvSpPr>
        <p:spPr>
          <a:xfrm>
            <a:off x="8220400" y="456651"/>
            <a:ext cx="32997" cy="32997"/>
          </a:xfrm>
          <a:prstGeom prst="ellipse">
            <a:avLst/>
          </a:prstGeom>
          <a:solidFill>
            <a:srgbClr val="FFFFFF">
              <a:alpha val="70000"/>
            </a:srgbClr>
          </a:solidFill>
          <a:ln w="12700">
            <a:solidFill>
              <a:srgbClr val="333333"/>
            </a:solidFill>
            <a:prstDash val="solid"/>
          </a:ln>
        </p:spPr>
        <p:txBody>
          <a:bodyPr/>
          <a:p/>
        </p:txBody>
      </p:sp>
      <p:sp>
        <p:nvSpPr>
          <p:cNvPr id="15" name="Shape 13"/>
          <p:cNvSpPr/>
          <p:nvPr/>
        </p:nvSpPr>
        <p:spPr>
          <a:xfrm>
            <a:off x="8385613" y="655754"/>
            <a:ext cx="50078" cy="50078"/>
          </a:xfrm>
          <a:prstGeom prst="ellipse">
            <a:avLst/>
          </a:prstGeom>
          <a:solidFill>
            <a:srgbClr val="FFFFFF">
              <a:alpha val="70000"/>
            </a:srgbClr>
          </a:solidFill>
          <a:ln w="12700">
            <a:solidFill>
              <a:srgbClr val="333333"/>
            </a:solidFill>
            <a:prstDash val="solid"/>
          </a:ln>
        </p:spPr>
        <p:txBody>
          <a:bodyPr/>
          <a:p/>
        </p:txBody>
      </p:sp>
      <p:sp>
        <p:nvSpPr>
          <p:cNvPr id="16" name="Shape 14"/>
          <p:cNvSpPr/>
          <p:nvPr/>
        </p:nvSpPr>
        <p:spPr>
          <a:xfrm>
            <a:off x="8122474" y="1423442"/>
            <a:ext cx="53680" cy="53680"/>
          </a:xfrm>
          <a:prstGeom prst="ellipse">
            <a:avLst/>
          </a:prstGeom>
          <a:solidFill>
            <a:srgbClr val="FFFFFF">
              <a:alpha val="70000"/>
            </a:srgbClr>
          </a:solidFill>
          <a:ln w="12700">
            <a:solidFill>
              <a:srgbClr val="333333"/>
            </a:solidFill>
            <a:prstDash val="solid"/>
          </a:ln>
        </p:spPr>
        <p:txBody>
          <a:bodyPr/>
          <a:p/>
        </p:txBody>
      </p:sp>
      <p:sp>
        <p:nvSpPr>
          <p:cNvPr id="17" name="Shape 15"/>
          <p:cNvSpPr/>
          <p:nvPr/>
        </p:nvSpPr>
        <p:spPr>
          <a:xfrm>
            <a:off x="7701360" y="872821"/>
            <a:ext cx="47313" cy="47313"/>
          </a:xfrm>
          <a:prstGeom prst="ellipse">
            <a:avLst/>
          </a:prstGeom>
          <a:solidFill>
            <a:srgbClr val="FFFFFF">
              <a:alpha val="70000"/>
            </a:srgbClr>
          </a:solidFill>
          <a:ln w="12700">
            <a:solidFill>
              <a:srgbClr val="333333"/>
            </a:solidFill>
            <a:prstDash val="solid"/>
          </a:ln>
        </p:spPr>
        <p:txBody>
          <a:bodyPr/>
          <a:p/>
        </p:txBody>
      </p:sp>
      <p:sp>
        <p:nvSpPr>
          <p:cNvPr id="18" name="Shape 16"/>
          <p:cNvSpPr/>
          <p:nvPr/>
        </p:nvSpPr>
        <p:spPr>
          <a:xfrm>
            <a:off x="8505738" y="654318"/>
            <a:ext cx="47752" cy="47752"/>
          </a:xfrm>
          <a:prstGeom prst="ellipse">
            <a:avLst/>
          </a:prstGeom>
          <a:solidFill>
            <a:srgbClr val="FFFFFF">
              <a:alpha val="70000"/>
            </a:srgbClr>
          </a:solidFill>
          <a:ln w="12700">
            <a:solidFill>
              <a:srgbClr val="333333"/>
            </a:solidFill>
            <a:prstDash val="solid"/>
          </a:ln>
        </p:spPr>
        <p:txBody>
          <a:bodyPr/>
          <a:p/>
        </p:txBody>
      </p:sp>
      <p:sp>
        <p:nvSpPr>
          <p:cNvPr id="19" name="Shape 17"/>
          <p:cNvSpPr/>
          <p:nvPr/>
        </p:nvSpPr>
        <p:spPr>
          <a:xfrm>
            <a:off x="9201831" y="727650"/>
            <a:ext cx="55054" cy="55054"/>
          </a:xfrm>
          <a:prstGeom prst="ellipse">
            <a:avLst/>
          </a:prstGeom>
          <a:solidFill>
            <a:srgbClr val="FFFFFF">
              <a:alpha val="70000"/>
            </a:srgbClr>
          </a:solidFill>
          <a:ln w="12700">
            <a:solidFill>
              <a:srgbClr val="333333"/>
            </a:solidFill>
            <a:prstDash val="solid"/>
          </a:ln>
        </p:spPr>
        <p:txBody>
          <a:bodyPr/>
          <a:p/>
        </p:txBody>
      </p:sp>
      <p:sp>
        <p:nvSpPr>
          <p:cNvPr id="20" name="Shape 18"/>
          <p:cNvSpPr/>
          <p:nvPr/>
        </p:nvSpPr>
        <p:spPr>
          <a:xfrm>
            <a:off x="9149636" y="789327"/>
            <a:ext cx="51685" cy="51685"/>
          </a:xfrm>
          <a:prstGeom prst="ellipse">
            <a:avLst/>
          </a:prstGeom>
          <a:solidFill>
            <a:srgbClr val="FFFFFF">
              <a:alpha val="70000"/>
            </a:srgbClr>
          </a:solidFill>
          <a:ln w="12700">
            <a:solidFill>
              <a:srgbClr val="333333"/>
            </a:solidFill>
            <a:prstDash val="solid"/>
          </a:ln>
        </p:spPr>
        <p:txBody>
          <a:bodyPr/>
          <a:p/>
        </p:txBody>
      </p:sp>
      <p:sp>
        <p:nvSpPr>
          <p:cNvPr id="21" name="Shape 19"/>
          <p:cNvSpPr/>
          <p:nvPr/>
        </p:nvSpPr>
        <p:spPr>
          <a:xfrm>
            <a:off x="7839306" y="371177"/>
            <a:ext cx="47743" cy="47743"/>
          </a:xfrm>
          <a:prstGeom prst="ellipse">
            <a:avLst/>
          </a:prstGeom>
          <a:solidFill>
            <a:srgbClr val="FFFFFF">
              <a:alpha val="70000"/>
            </a:srgbClr>
          </a:solidFill>
          <a:ln w="12700">
            <a:solidFill>
              <a:srgbClr val="333333"/>
            </a:solidFill>
            <a:prstDash val="solid"/>
          </a:ln>
        </p:spPr>
        <p:txBody>
          <a:bodyPr/>
          <a:p/>
        </p:txBody>
      </p:sp>
      <p:sp>
        <p:nvSpPr>
          <p:cNvPr id="22" name="Text 20"/>
          <p:cNvSpPr txBox="1"/>
          <p:nvPr/>
        </p:nvSpPr>
        <p:spPr>
          <a:xfrm>
            <a:off x="640080" y="384048"/>
            <a:ext cx="8778240" cy="658368"/>
          </a:xfrm>
          <a:prstGeom prst="rect">
            <a:avLst/>
          </a:prstGeom>
          <a:noFill/>
          <a:ln/>
        </p:spPr>
        <p:txBody>
          <a:bodyPr wrap="square" lIns="0" tIns="0" rIns="0" bIns="0" rtlCol="0" anchor="ctr"/>
          <a:lstStyle/>
          <a:p>
            <a:pPr marL="0" indent="0">
              <a:buNone/>
            </a:pPr>
            <a:r>
              <a:rPr lang="en-US" sz="3400" b="1" dirty="0">
                <a:solidFill>
                  <a:srgbClr val="EAEFF8"/>
                </a:solidFill>
                <a:latin typeface="Cambria" pitchFamily="34" charset="0"/>
                <a:ea typeface="Cambria" pitchFamily="34" charset="-122"/>
                <a:cs typeface="Cambria" pitchFamily="34" charset="-120"/>
              </a:rPr>
              <a:t>Introduction</a:t>
            </a:r>
            <a:endParaRPr lang="en-US" sz="3400" dirty="0"/>
          </a:p>
        </p:txBody>
      </p:sp>
      <p:sp>
        <p:nvSpPr>
          <p:cNvPr id="23" name="Text 21"/>
          <p:cNvSpPr txBox="1"/>
          <p:nvPr/>
        </p:nvSpPr>
        <p:spPr>
          <a:xfrm>
            <a:off x="658368" y="1042416"/>
            <a:ext cx="10424160" cy="310896"/>
          </a:xfrm>
          <a:prstGeom prst="rect">
            <a:avLst/>
          </a:prstGeom>
          <a:noFill/>
          <a:ln/>
        </p:spPr>
        <p:txBody>
          <a:bodyPr wrap="square" lIns="0" tIns="0" rIns="0" bIns="0" rtlCol="0" anchor="ctr"/>
          <a:lstStyle/>
          <a:p>
            <a:pPr marL="0" indent="0">
              <a:buNone/>
            </a:pPr>
            <a:r>
              <a:rPr lang="en-US" sz="1300" i="1" dirty="0">
                <a:solidFill>
                  <a:srgbClr val="F0C43C"/>
                </a:solidFill>
                <a:latin typeface="Calibri" pitchFamily="34" charset="0"/>
                <a:ea typeface="Calibri" pitchFamily="34" charset="-122"/>
                <a:cs typeface="Calibri" pitchFamily="34" charset="-120"/>
              </a:rPr>
              <a:t>What the program is</a:t>
            </a:r>
            <a:endParaRPr lang="en-US" sz="1300" dirty="0"/>
          </a:p>
        </p:txBody>
      </p:sp>
      <p:sp>
        <p:nvSpPr>
          <p:cNvPr id="24" name="Shape 22"/>
          <p:cNvSpPr/>
          <p:nvPr/>
        </p:nvSpPr>
        <p:spPr>
          <a:xfrm>
            <a:off x="658368" y="1755648"/>
            <a:ext cx="68580" cy="274320"/>
          </a:xfrm>
          <a:prstGeom prst="rect">
            <a:avLst/>
          </a:prstGeom>
          <a:solidFill>
            <a:srgbClr val="F0C43C"/>
          </a:solidFill>
          <a:ln w="12700">
            <a:solidFill>
              <a:srgbClr val="333333"/>
            </a:solidFill>
            <a:prstDash val="solid"/>
          </a:ln>
        </p:spPr>
        <p:txBody>
          <a:bodyPr/>
          <a:p/>
        </p:txBody>
      </p:sp>
      <p:sp>
        <p:nvSpPr>
          <p:cNvPr id="25" name="Text 23"/>
          <p:cNvSpPr txBox="1"/>
          <p:nvPr/>
        </p:nvSpPr>
        <p:spPr>
          <a:xfrm>
            <a:off x="896112" y="1700784"/>
            <a:ext cx="5486400" cy="310896"/>
          </a:xfrm>
          <a:prstGeom prst="rect">
            <a:avLst/>
          </a:prstGeom>
          <a:noFill/>
          <a:ln/>
        </p:spPr>
        <p:txBody>
          <a:bodyPr wrap="square" lIns="0" tIns="0" rIns="0" bIns="0" rtlCol="0" anchor="ctr"/>
          <a:lstStyle/>
          <a:p>
            <a:pPr marL="0" indent="0">
              <a:buNone/>
            </a:pPr>
            <a:r>
              <a:rPr lang="en-US" sz="1600" b="1" dirty="0">
                <a:solidFill>
                  <a:srgbClr val="F0C43C"/>
                </a:solidFill>
                <a:latin typeface="Calibri" pitchFamily="34" charset="0"/>
                <a:ea typeface="Calibri" pitchFamily="34" charset="-122"/>
                <a:cs typeface="Calibri" pitchFamily="34" charset="-120"/>
              </a:rPr>
              <a:t>A picture that runs.</a:t>
            </a:r>
            <a:endParaRPr lang="en-US" sz="1600" dirty="0"/>
          </a:p>
        </p:txBody>
      </p:sp>
      <p:sp>
        <p:nvSpPr>
          <p:cNvPr id="26" name="Text 24"/>
          <p:cNvSpPr txBox="1"/>
          <p:nvPr/>
        </p:nvSpPr>
        <p:spPr>
          <a:xfrm>
            <a:off x="896112" y="2029968"/>
            <a:ext cx="5577840" cy="969264"/>
          </a:xfrm>
          <a:prstGeom prst="rect">
            <a:avLst/>
          </a:prstGeom>
          <a:noFill/>
          <a:ln/>
        </p:spPr>
        <p:txBody>
          <a:bodyPr wrap="square" lIns="0" tIns="0" rIns="0" bIns="0" rtlCol="0" anchor="ctr"/>
          <a:lstStyle/>
          <a:p>
            <a:pPr>
              <a:lnSpc>
                <a:spcPts val="1900"/>
              </a:lnSpc>
            </a:pPr>
            <a:r>
              <a:rPr lang="en-US" sz="1300" dirty="0">
                <a:solidFill>
                  <a:srgbClr val="EAEFF8"/>
                </a:solidFill>
                <a:latin typeface="Calibri"/>
                <a:ea typeface="Calibri"/>
                <a:cs typeface="Calibri"/>
              </a:rPr>
              <a:t>The whole of Dinajpur Railway Station - building, canopy, foot over bridge, </a:t>
            </a:r>
            <a:r>
              <a:rPr lang="en-US" sz="1300">
                <a:solidFill>
                  <a:srgbClr val="EAEFF8"/>
                </a:solidFill>
                <a:latin typeface="Calibri"/>
                <a:ea typeface="Calibri"/>
                <a:cs typeface="Calibri"/>
              </a:rPr>
              <a:t>platform, two tracks and the land around them is drawn from scratch in </a:t>
            </a:r>
            <a:r>
              <a:rPr lang="en-US" sz="1300" dirty="0">
                <a:solidFill>
                  <a:srgbClr val="EAEFF8"/>
                </a:solidFill>
                <a:latin typeface="Calibri"/>
                <a:ea typeface="Calibri"/>
                <a:cs typeface="Calibri"/>
              </a:rPr>
              <a:t>immediate-mode OpenGL. Nothing is an imported image.</a:t>
            </a:r>
            <a:endParaRPr lang="en-US" sz="1300" dirty="0">
              <a:latin typeface="Calibri"/>
              <a:ea typeface="Calibri"/>
              <a:cs typeface="Calibri"/>
            </a:endParaRPr>
          </a:p>
        </p:txBody>
      </p:sp>
      <p:sp>
        <p:nvSpPr>
          <p:cNvPr id="27" name="Shape 25"/>
          <p:cNvSpPr/>
          <p:nvPr/>
        </p:nvSpPr>
        <p:spPr>
          <a:xfrm>
            <a:off x="658368" y="3236976"/>
            <a:ext cx="68580" cy="274320"/>
          </a:xfrm>
          <a:prstGeom prst="rect">
            <a:avLst/>
          </a:prstGeom>
          <a:solidFill>
            <a:srgbClr val="F0C43C"/>
          </a:solidFill>
          <a:ln w="12700">
            <a:solidFill>
              <a:srgbClr val="333333"/>
            </a:solidFill>
            <a:prstDash val="solid"/>
          </a:ln>
        </p:spPr>
        <p:txBody>
          <a:bodyPr/>
          <a:p/>
        </p:txBody>
      </p:sp>
      <p:sp>
        <p:nvSpPr>
          <p:cNvPr id="28" name="Text 26"/>
          <p:cNvSpPr txBox="1"/>
          <p:nvPr/>
        </p:nvSpPr>
        <p:spPr>
          <a:xfrm>
            <a:off x="896112" y="3182112"/>
            <a:ext cx="5486400" cy="310896"/>
          </a:xfrm>
          <a:prstGeom prst="rect">
            <a:avLst/>
          </a:prstGeom>
          <a:noFill/>
          <a:ln/>
        </p:spPr>
        <p:txBody>
          <a:bodyPr wrap="square" lIns="0" tIns="0" rIns="0" bIns="0" rtlCol="0" anchor="ctr"/>
          <a:lstStyle/>
          <a:p>
            <a:pPr marL="0" indent="0">
              <a:buNone/>
            </a:pPr>
            <a:r>
              <a:rPr lang="en-US" sz="1600" b="1" dirty="0">
                <a:solidFill>
                  <a:srgbClr val="F0C43C"/>
                </a:solidFill>
                <a:latin typeface="Calibri" pitchFamily="34" charset="0"/>
                <a:ea typeface="Calibri" pitchFamily="34" charset="-122"/>
                <a:cs typeface="Calibri" pitchFamily="34" charset="-120"/>
              </a:rPr>
              <a:t>Built from a hand drawing.</a:t>
            </a:r>
            <a:endParaRPr lang="en-US" sz="1600" dirty="0"/>
          </a:p>
        </p:txBody>
      </p:sp>
      <p:sp>
        <p:nvSpPr>
          <p:cNvPr id="29" name="Text 27"/>
          <p:cNvSpPr txBox="1"/>
          <p:nvPr/>
        </p:nvSpPr>
        <p:spPr>
          <a:xfrm>
            <a:off x="896112" y="3511296"/>
            <a:ext cx="5577840" cy="969264"/>
          </a:xfrm>
          <a:prstGeom prst="rect">
            <a:avLst/>
          </a:prstGeom>
          <a:noFill/>
          <a:ln/>
        </p:spPr>
        <p:txBody>
          <a:bodyPr wrap="square" lIns="0" tIns="0" rIns="0" bIns="0" rtlCol="0" anchor="ctr"/>
          <a:lstStyle/>
          <a:p>
            <a:pPr marL="0" indent="0">
              <a:lnSpc>
                <a:spcPts val="1900"/>
              </a:lnSpc>
              <a:buNone/>
            </a:pPr>
            <a:r>
              <a:rPr lang="en-US" sz="1300" dirty="0">
                <a:solidFill>
                  <a:srgbClr val="EAEFF8"/>
                </a:solidFill>
                <a:latin typeface="Calibri" pitchFamily="34" charset="0"/>
                <a:ea typeface="Calibri" pitchFamily="34" charset="-122"/>
                <a:cs typeface="Calibri" pitchFamily="34" charset="-120"/>
              </a:rPr>
              <a:t>The scene began as a sketch on graph paper. Every coordinate was read off that drawing and written into the source by hand.</a:t>
            </a:r>
            <a:endParaRPr lang="en-US" sz="1300" dirty="0"/>
          </a:p>
        </p:txBody>
      </p:sp>
      <p:sp>
        <p:nvSpPr>
          <p:cNvPr id="30" name="Shape 28"/>
          <p:cNvSpPr/>
          <p:nvPr/>
        </p:nvSpPr>
        <p:spPr>
          <a:xfrm>
            <a:off x="658368" y="4718304"/>
            <a:ext cx="68580" cy="274320"/>
          </a:xfrm>
          <a:prstGeom prst="rect">
            <a:avLst/>
          </a:prstGeom>
          <a:solidFill>
            <a:srgbClr val="F0C43C"/>
          </a:solidFill>
          <a:ln w="12700">
            <a:solidFill>
              <a:srgbClr val="333333"/>
            </a:solidFill>
            <a:prstDash val="solid"/>
          </a:ln>
        </p:spPr>
        <p:txBody>
          <a:bodyPr/>
          <a:p/>
        </p:txBody>
      </p:sp>
      <p:sp>
        <p:nvSpPr>
          <p:cNvPr id="31" name="Text 29"/>
          <p:cNvSpPr txBox="1"/>
          <p:nvPr/>
        </p:nvSpPr>
        <p:spPr>
          <a:xfrm>
            <a:off x="896112" y="4663440"/>
            <a:ext cx="5486400" cy="310896"/>
          </a:xfrm>
          <a:prstGeom prst="rect">
            <a:avLst/>
          </a:prstGeom>
          <a:noFill/>
          <a:ln/>
        </p:spPr>
        <p:txBody>
          <a:bodyPr wrap="square" lIns="0" tIns="0" rIns="0" bIns="0" rtlCol="0" anchor="ctr"/>
          <a:lstStyle/>
          <a:p>
            <a:pPr marL="0" indent="0">
              <a:buNone/>
            </a:pPr>
            <a:r>
              <a:rPr lang="en-US" sz="1600" b="1">
                <a:solidFill>
                  <a:srgbClr val="F0C43C"/>
                </a:solidFill>
                <a:latin typeface="Calibri"/>
                <a:ea typeface="Calibri"/>
                <a:cs typeface="Calibri"/>
              </a:rPr>
              <a:t>One file.</a:t>
            </a:r>
            <a:endParaRPr lang="en-US" sz="1600" dirty="0"/>
          </a:p>
        </p:txBody>
      </p:sp>
      <p:sp>
        <p:nvSpPr>
          <p:cNvPr id="32" name="Text 30"/>
          <p:cNvSpPr txBox="1"/>
          <p:nvPr/>
        </p:nvSpPr>
        <p:spPr>
          <a:xfrm>
            <a:off x="896112" y="4992624"/>
            <a:ext cx="5577840" cy="969264"/>
          </a:xfrm>
          <a:prstGeom prst="rect">
            <a:avLst/>
          </a:prstGeom>
          <a:noFill/>
          <a:ln/>
        </p:spPr>
        <p:txBody>
          <a:bodyPr wrap="square" lIns="0" tIns="0" rIns="0" bIns="0" rtlCol="0" anchor="ctr"/>
          <a:lstStyle/>
          <a:p>
            <a:pPr marL="0" indent="0">
              <a:lnSpc>
                <a:spcPts val="1900"/>
              </a:lnSpc>
              <a:buNone/>
            </a:pPr>
            <a:r>
              <a:rPr lang="en-US" sz="1300">
                <a:solidFill>
                  <a:srgbClr val="EAEFF8"/>
                </a:solidFill>
                <a:latin typeface="Calibri"/>
                <a:ea typeface="Calibri"/>
                <a:cs typeface="Calibri"/>
              </a:rPr>
              <a:t>Eleven small drawing functions do the work. The file is long only because display() lists the scene shape by shape, not because the idea is complicated.</a:t>
            </a:r>
            <a:r>
              <a:rPr lang="en-US" sz="1300" dirty="0">
                <a:solidFill>
                  <a:srgbClr val="EAEFF8"/>
                </a:solidFill>
                <a:latin typeface="Calibri"/>
                <a:ea typeface="Calibri"/>
                <a:cs typeface="Calibri"/>
              </a:rPr>
              <a:t/>
            </a:r>
            <a:endParaRPr lang="en-US" sz="1300" dirty="0">
              <a:latin typeface="Calibri"/>
              <a:ea typeface="Calibri"/>
              <a:cs typeface="Calibri"/>
            </a:endParaRPr>
          </a:p>
        </p:txBody>
      </p:sp>
      <p:pic>
        <p:nvPicPr>
          <p:cNvPr id="33" name="Image 0" descr="/home/claude/work/shots/day.png"/>
          <p:cNvPicPr>
            <a:picLocks noChangeAspect="1"/>
          </p:cNvPicPr>
          <p:nvPr/>
        </p:nvPicPr>
        <p:blipFill>
          <a:blip r:embed="rId4"/>
          <a:stretch>
            <a:fillRect/>
          </a:stretch>
        </p:blipFill>
        <p:spPr>
          <a:xfrm>
            <a:off x="6723888" y="2034032"/>
            <a:ext cx="5039360" cy="2783840"/>
          </a:xfrm>
          <a:prstGeom prst="rect">
            <a:avLst/>
          </a:prstGeom>
          <a:effectLst>
            <a:outerShdw blurRad="177800" dist="38100" dir="5400000" algn="bl" rotWithShape="0">
              <a:srgbClr val="000000">
                <a:alpha val="50000"/>
              </a:srgbClr>
            </a:outerShdw>
          </a:effectLst>
        </p:spPr>
      </p:pic>
      <p:sp>
        <p:nvSpPr>
          <p:cNvPr id="34" name="Text 31"/>
          <p:cNvSpPr txBox="1"/>
          <p:nvPr/>
        </p:nvSpPr>
        <p:spPr>
          <a:xfrm>
            <a:off x="7089648" y="4990592"/>
            <a:ext cx="4754880" cy="292608"/>
          </a:xfrm>
          <a:prstGeom prst="rect">
            <a:avLst/>
          </a:prstGeom>
          <a:noFill/>
          <a:ln/>
        </p:spPr>
        <p:txBody>
          <a:bodyPr wrap="square" lIns="0" tIns="0" rIns="0" bIns="0" rtlCol="0" anchor="ctr"/>
          <a:lstStyle/>
          <a:p>
            <a:pPr marL="0" indent="0">
              <a:buNone/>
            </a:pPr>
            <a:r>
              <a:rPr lang="en-US" sz="1100" i="1" dirty="0">
                <a:solidFill>
                  <a:srgbClr val="97A7C7"/>
                </a:solidFill>
                <a:latin typeface="Calibri" pitchFamily="34" charset="0"/>
                <a:ea typeface="Calibri" pitchFamily="34" charset="-122"/>
                <a:cs typeface="Calibri" pitchFamily="34" charset="-120"/>
              </a:rPr>
              <a:t>The scene at midday. Each train is three coaches and an engine, drawn by one function called three times.</a:t>
            </a:r>
            <a:endParaRPr lang="en-US" sz="1100" dirty="0"/>
          </a:p>
        </p:txBody>
      </p:sp>
      <p:sp>
        <p:nvSpPr>
          <p:cNvPr id="39" name="Text 36"/>
          <p:cNvSpPr txBox="1"/>
          <p:nvPr/>
        </p:nvSpPr>
        <p:spPr>
          <a:xfrm>
            <a:off x="11222431" y="457200"/>
            <a:ext cx="384048" cy="292608"/>
          </a:xfrm>
          <a:prstGeom prst="rect">
            <a:avLst/>
          </a:prstGeom>
          <a:noFill/>
          <a:ln/>
        </p:spPr>
        <p:txBody>
          <a:bodyPr wrap="square" lIns="0" tIns="0" rIns="0" bIns="0" rtlCol="0" anchor="ctr"/>
          <a:lstStyle/>
          <a:p>
            <a:pPr marL="0" indent="0" algn="r">
              <a:buNone/>
            </a:pPr>
            <a:r>
              <a:rPr lang="en-US" sz="1100" dirty="0">
                <a:solidFill>
                  <a:srgbClr val="97A7C7"/>
                </a:solidFill>
                <a:latin typeface="Courier New" pitchFamily="34" charset="0"/>
                <a:ea typeface="Courier New" pitchFamily="34" charset="-122"/>
                <a:cs typeface="Courier New" pitchFamily="34" charset="-120"/>
              </a:rPr>
              <a:t>2</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C3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778240" cy="658368"/>
          </a:xfrm>
          <a:prstGeom prst="rect">
            <a:avLst/>
          </a:prstGeom>
          <a:noFill/>
          <a:ln/>
        </p:spPr>
        <p:txBody>
          <a:bodyPr wrap="square" lIns="0" tIns="0" rIns="0" bIns="0" rtlCol="0" anchor="ctr"/>
          <a:lstStyle/>
          <a:p>
            <a:pPr marL="0" indent="0">
              <a:buNone/>
            </a:pPr>
            <a:r>
              <a:rPr lang="en-US" sz="3400" b="1" dirty="0">
                <a:solidFill>
                  <a:srgbClr val="EAEFF8"/>
                </a:solidFill>
                <a:latin typeface="Cambria" pitchFamily="34" charset="0"/>
                <a:ea typeface="Cambria" pitchFamily="34" charset="-122"/>
                <a:cs typeface="Cambria" pitchFamily="34" charset="-120"/>
              </a:rPr>
              <a:t>Why this topic</a:t>
            </a:r>
            <a:endParaRPr lang="en-US" sz="3400" dirty="0"/>
          </a:p>
        </p:txBody>
      </p:sp>
      <p:sp>
        <p:nvSpPr>
          <p:cNvPr id="3" name="Text 1"/>
          <p:cNvSpPr txBox="1"/>
          <p:nvPr/>
        </p:nvSpPr>
        <p:spPr>
          <a:xfrm>
            <a:off x="658368" y="1042416"/>
            <a:ext cx="10424160" cy="310896"/>
          </a:xfrm>
          <a:prstGeom prst="rect">
            <a:avLst/>
          </a:prstGeom>
          <a:noFill/>
          <a:ln/>
        </p:spPr>
        <p:txBody>
          <a:bodyPr wrap="square" lIns="0" tIns="0" rIns="0" bIns="0" rtlCol="0" anchor="ctr"/>
          <a:lstStyle/>
          <a:p>
            <a:pPr marL="0" indent="0">
              <a:buNone/>
            </a:pPr>
            <a:r>
              <a:rPr lang="en-US" sz="1300" i="1" dirty="0">
                <a:solidFill>
                  <a:srgbClr val="F0C43C"/>
                </a:solidFill>
                <a:latin typeface="Calibri" pitchFamily="34" charset="0"/>
                <a:ea typeface="Calibri" pitchFamily="34" charset="-122"/>
                <a:cs typeface="Calibri" pitchFamily="34" charset="-120"/>
              </a:rPr>
              <a:t>Reasons for choosing a railway station</a:t>
            </a:r>
            <a:endParaRPr lang="en-US" sz="1300" dirty="0"/>
          </a:p>
        </p:txBody>
      </p:sp>
      <p:sp>
        <p:nvSpPr>
          <p:cNvPr id="4" name="Shape 2"/>
          <p:cNvSpPr/>
          <p:nvPr/>
        </p:nvSpPr>
        <p:spPr>
          <a:xfrm>
            <a:off x="658368" y="1700784"/>
            <a:ext cx="6400800" cy="1097280"/>
          </a:xfrm>
          <a:prstGeom prst="rect">
            <a:avLst/>
          </a:prstGeom>
          <a:solidFill>
            <a:srgbClr val="1B2C57"/>
          </a:solidFill>
          <a:ln w="12700">
            <a:solidFill>
              <a:srgbClr val="333333"/>
            </a:solidFill>
            <a:prstDash val="solid"/>
          </a:ln>
        </p:spPr>
        <p:txBody>
          <a:bodyPr/>
          <a:p/>
        </p:txBody>
      </p:sp>
      <p:sp>
        <p:nvSpPr>
          <p:cNvPr id="5" name="Text 3"/>
          <p:cNvSpPr txBox="1"/>
          <p:nvPr/>
        </p:nvSpPr>
        <p:spPr>
          <a:xfrm>
            <a:off x="822960" y="1883664"/>
            <a:ext cx="658368" cy="694944"/>
          </a:xfrm>
          <a:prstGeom prst="rect">
            <a:avLst/>
          </a:prstGeom>
          <a:noFill/>
          <a:ln/>
        </p:spPr>
        <p:txBody>
          <a:bodyPr wrap="square" lIns="0" tIns="0" rIns="0" bIns="0" rtlCol="0" anchor="ctr"/>
          <a:lstStyle/>
          <a:p>
            <a:pPr marL="0" indent="0" algn="ctr">
              <a:buNone/>
            </a:pPr>
            <a:r>
              <a:rPr lang="en-US" sz="2400" b="1" dirty="0">
                <a:solidFill>
                  <a:srgbClr val="F0C43C"/>
                </a:solidFill>
                <a:latin typeface="Courier New" pitchFamily="34" charset="0"/>
                <a:ea typeface="Courier New" pitchFamily="34" charset="-122"/>
                <a:cs typeface="Courier New" pitchFamily="34" charset="-120"/>
              </a:rPr>
              <a:t>01</a:t>
            </a:r>
            <a:endParaRPr lang="en-US" sz="2400" dirty="0"/>
          </a:p>
        </p:txBody>
      </p:sp>
      <p:sp>
        <p:nvSpPr>
          <p:cNvPr id="6" name="Text 4"/>
          <p:cNvSpPr txBox="1"/>
          <p:nvPr/>
        </p:nvSpPr>
        <p:spPr>
          <a:xfrm>
            <a:off x="1572768" y="1847088"/>
            <a:ext cx="5303520" cy="292608"/>
          </a:xfrm>
          <a:prstGeom prst="rect">
            <a:avLst/>
          </a:prstGeom>
          <a:noFill/>
          <a:ln/>
        </p:spPr>
        <p:txBody>
          <a:bodyPr wrap="square" lIns="0" tIns="0" rIns="0" bIns="0" rtlCol="0" anchor="ctr"/>
          <a:lstStyle/>
          <a:p>
            <a:pPr marL="0" indent="0">
              <a:buNone/>
            </a:pPr>
            <a:r>
              <a:rPr lang="en-US" sz="1450" b="1" dirty="0">
                <a:solidFill>
                  <a:srgbClr val="EAEFF8"/>
                </a:solidFill>
                <a:latin typeface="Calibri" pitchFamily="34" charset="0"/>
                <a:ea typeface="Calibri" pitchFamily="34" charset="-122"/>
                <a:cs typeface="Calibri" pitchFamily="34" charset="-120"/>
              </a:rPr>
              <a:t>A place everyone knows</a:t>
            </a:r>
            <a:endParaRPr lang="en-US" sz="1450" dirty="0"/>
          </a:p>
        </p:txBody>
      </p:sp>
      <p:sp>
        <p:nvSpPr>
          <p:cNvPr id="7" name="Text 5"/>
          <p:cNvSpPr txBox="1"/>
          <p:nvPr/>
        </p:nvSpPr>
        <p:spPr>
          <a:xfrm>
            <a:off x="1572768" y="2121408"/>
            <a:ext cx="5321808" cy="566928"/>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Dinajpur station is familiar to look at, so a viewer can judge instantly whether the drawing is right.</a:t>
            </a:r>
            <a:endParaRPr lang="en-US" sz="1150" dirty="0"/>
          </a:p>
        </p:txBody>
      </p:sp>
      <p:sp>
        <p:nvSpPr>
          <p:cNvPr id="8" name="Shape 6"/>
          <p:cNvSpPr/>
          <p:nvPr/>
        </p:nvSpPr>
        <p:spPr>
          <a:xfrm>
            <a:off x="658368" y="2871216"/>
            <a:ext cx="6400800" cy="1097280"/>
          </a:xfrm>
          <a:prstGeom prst="rect">
            <a:avLst/>
          </a:prstGeom>
          <a:solidFill>
            <a:srgbClr val="1B2C57"/>
          </a:solidFill>
          <a:ln w="12700">
            <a:solidFill>
              <a:srgbClr val="333333"/>
            </a:solidFill>
            <a:prstDash val="solid"/>
          </a:ln>
        </p:spPr>
        <p:txBody>
          <a:bodyPr/>
          <a:p/>
        </p:txBody>
      </p:sp>
      <p:sp>
        <p:nvSpPr>
          <p:cNvPr id="9" name="Text 7"/>
          <p:cNvSpPr txBox="1"/>
          <p:nvPr/>
        </p:nvSpPr>
        <p:spPr>
          <a:xfrm>
            <a:off x="822960" y="3054096"/>
            <a:ext cx="658368" cy="694944"/>
          </a:xfrm>
          <a:prstGeom prst="rect">
            <a:avLst/>
          </a:prstGeom>
          <a:noFill/>
          <a:ln/>
        </p:spPr>
        <p:txBody>
          <a:bodyPr wrap="square" lIns="0" tIns="0" rIns="0" bIns="0" rtlCol="0" anchor="ctr"/>
          <a:lstStyle/>
          <a:p>
            <a:pPr marL="0" indent="0" algn="ctr">
              <a:buNone/>
            </a:pPr>
            <a:r>
              <a:rPr lang="en-US" sz="2400" b="1" dirty="0">
                <a:solidFill>
                  <a:srgbClr val="F0C43C"/>
                </a:solidFill>
                <a:latin typeface="Courier New" pitchFamily="34" charset="0"/>
                <a:ea typeface="Courier New" pitchFamily="34" charset="-122"/>
                <a:cs typeface="Courier New" pitchFamily="34" charset="-120"/>
              </a:rPr>
              <a:t>02</a:t>
            </a:r>
            <a:endParaRPr lang="en-US" sz="2400" dirty="0"/>
          </a:p>
        </p:txBody>
      </p:sp>
      <p:sp>
        <p:nvSpPr>
          <p:cNvPr id="10" name="Text 8"/>
          <p:cNvSpPr txBox="1"/>
          <p:nvPr/>
        </p:nvSpPr>
        <p:spPr>
          <a:xfrm>
            <a:off x="1572768" y="3017520"/>
            <a:ext cx="5303520" cy="292608"/>
          </a:xfrm>
          <a:prstGeom prst="rect">
            <a:avLst/>
          </a:prstGeom>
          <a:noFill/>
          <a:ln/>
        </p:spPr>
        <p:txBody>
          <a:bodyPr wrap="square" lIns="0" tIns="0" rIns="0" bIns="0" rtlCol="0" anchor="ctr"/>
          <a:lstStyle/>
          <a:p>
            <a:pPr marL="0" indent="0">
              <a:buNone/>
            </a:pPr>
            <a:r>
              <a:rPr lang="en-US" sz="1450" b="1" dirty="0">
                <a:solidFill>
                  <a:srgbClr val="EAEFF8"/>
                </a:solidFill>
                <a:latin typeface="Calibri" pitchFamily="34" charset="0"/>
                <a:ea typeface="Calibri" pitchFamily="34" charset="-122"/>
                <a:cs typeface="Calibri" pitchFamily="34" charset="-120"/>
              </a:rPr>
              <a:t>It holds every primitive</a:t>
            </a:r>
            <a:endParaRPr lang="en-US" sz="1450" dirty="0"/>
          </a:p>
        </p:txBody>
      </p:sp>
      <p:sp>
        <p:nvSpPr>
          <p:cNvPr id="11" name="Text 9"/>
          <p:cNvSpPr txBox="1"/>
          <p:nvPr/>
        </p:nvSpPr>
        <p:spPr>
          <a:xfrm>
            <a:off x="1572768" y="3291840"/>
            <a:ext cx="5321808" cy="566928"/>
          </a:xfrm>
          <a:prstGeom prst="rect">
            <a:avLst/>
          </a:prstGeom>
          <a:noFill/>
          <a:ln/>
        </p:spPr>
        <p:txBody>
          <a:bodyPr wrap="square" lIns="0" tIns="0" rIns="0" bIns="0" rtlCol="0" anchor="ctr"/>
          <a:lstStyle/>
          <a:p>
            <a:pPr>
              <a:lnSpc>
                <a:spcPts val="1500"/>
              </a:lnSpc>
            </a:pPr>
            <a:r>
              <a:rPr lang="en-US" sz="1150">
                <a:solidFill>
                  <a:srgbClr val="97A7C7"/>
                </a:solidFill>
                <a:latin typeface="Calibri"/>
                <a:ea typeface="Calibri"/>
                <a:cs typeface="Calibri"/>
              </a:rPr>
              <a:t>Rails, sleepers, roofs, wheels and lamps need quads, triangles, lines and points — the whole lab toolkit in one picture.</a:t>
            </a:r>
            <a:r>
              <a:rPr lang="en-US" sz="1150" dirty="0">
                <a:solidFill>
                  <a:srgbClr val="97A7C7"/>
                </a:solidFill>
                <a:latin typeface="Calibri"/>
                <a:ea typeface="Calibri"/>
                <a:cs typeface="Calibri"/>
              </a:rPr>
              <a:t/>
            </a:r>
            <a:endParaRPr lang="en-US" sz="1150" dirty="0">
              <a:latin typeface="Calibri"/>
              <a:ea typeface="Calibri"/>
              <a:cs typeface="Calibri"/>
            </a:endParaRPr>
          </a:p>
        </p:txBody>
      </p:sp>
      <p:sp>
        <p:nvSpPr>
          <p:cNvPr id="12" name="Shape 10"/>
          <p:cNvSpPr/>
          <p:nvPr/>
        </p:nvSpPr>
        <p:spPr>
          <a:xfrm>
            <a:off x="658368" y="4041648"/>
            <a:ext cx="6400800" cy="1097280"/>
          </a:xfrm>
          <a:prstGeom prst="rect">
            <a:avLst/>
          </a:prstGeom>
          <a:solidFill>
            <a:srgbClr val="1B2C57"/>
          </a:solidFill>
          <a:ln w="12700">
            <a:solidFill>
              <a:srgbClr val="333333"/>
            </a:solidFill>
            <a:prstDash val="solid"/>
          </a:ln>
        </p:spPr>
        <p:txBody>
          <a:bodyPr/>
          <a:p/>
        </p:txBody>
      </p:sp>
      <p:sp>
        <p:nvSpPr>
          <p:cNvPr id="13" name="Text 11"/>
          <p:cNvSpPr txBox="1"/>
          <p:nvPr/>
        </p:nvSpPr>
        <p:spPr>
          <a:xfrm>
            <a:off x="822960" y="4224528"/>
            <a:ext cx="658368" cy="694944"/>
          </a:xfrm>
          <a:prstGeom prst="rect">
            <a:avLst/>
          </a:prstGeom>
          <a:noFill/>
          <a:ln/>
        </p:spPr>
        <p:txBody>
          <a:bodyPr wrap="square" lIns="0" tIns="0" rIns="0" bIns="0" rtlCol="0" anchor="ctr"/>
          <a:lstStyle/>
          <a:p>
            <a:pPr marL="0" indent="0" algn="ctr">
              <a:buNone/>
            </a:pPr>
            <a:r>
              <a:rPr lang="en-US" sz="2400" b="1" dirty="0">
                <a:solidFill>
                  <a:srgbClr val="F0C43C"/>
                </a:solidFill>
                <a:latin typeface="Courier New" pitchFamily="34" charset="0"/>
                <a:ea typeface="Courier New" pitchFamily="34" charset="-122"/>
                <a:cs typeface="Courier New" pitchFamily="34" charset="-120"/>
              </a:rPr>
              <a:t>03</a:t>
            </a:r>
            <a:endParaRPr lang="en-US" sz="2400" dirty="0"/>
          </a:p>
        </p:txBody>
      </p:sp>
      <p:sp>
        <p:nvSpPr>
          <p:cNvPr id="14" name="Text 12"/>
          <p:cNvSpPr txBox="1"/>
          <p:nvPr/>
        </p:nvSpPr>
        <p:spPr>
          <a:xfrm>
            <a:off x="1572768" y="4187952"/>
            <a:ext cx="5303520" cy="292608"/>
          </a:xfrm>
          <a:prstGeom prst="rect">
            <a:avLst/>
          </a:prstGeom>
          <a:noFill/>
          <a:ln/>
        </p:spPr>
        <p:txBody>
          <a:bodyPr wrap="square" lIns="0" tIns="0" rIns="0" bIns="0" rtlCol="0" anchor="ctr"/>
          <a:lstStyle/>
          <a:p>
            <a:pPr marL="0" indent="0">
              <a:buNone/>
            </a:pPr>
            <a:r>
              <a:rPr lang="en-US" sz="1450" b="1" dirty="0">
                <a:solidFill>
                  <a:srgbClr val="EAEFF8"/>
                </a:solidFill>
                <a:latin typeface="Calibri" pitchFamily="34" charset="0"/>
                <a:ea typeface="Calibri" pitchFamily="34" charset="-122"/>
                <a:cs typeface="Calibri" pitchFamily="34" charset="-120"/>
              </a:rPr>
              <a:t>It has natural movement</a:t>
            </a:r>
            <a:endParaRPr lang="en-US" sz="1450" dirty="0"/>
          </a:p>
        </p:txBody>
      </p:sp>
      <p:sp>
        <p:nvSpPr>
          <p:cNvPr id="15" name="Text 13"/>
          <p:cNvSpPr txBox="1"/>
          <p:nvPr/>
        </p:nvSpPr>
        <p:spPr>
          <a:xfrm>
            <a:off x="1572768" y="4462272"/>
            <a:ext cx="5321808" cy="566928"/>
          </a:xfrm>
          <a:prstGeom prst="rect">
            <a:avLst/>
          </a:prstGeom>
          <a:noFill/>
          <a:ln/>
        </p:spPr>
        <p:txBody>
          <a:bodyPr wrap="square" lIns="0" tIns="0" rIns="0" bIns="0" rtlCol="0" anchor="ctr"/>
          <a:lstStyle/>
          <a:p>
            <a:pPr marL="0" indent="0">
              <a:lnSpc>
                <a:spcPts val="1500"/>
              </a:lnSpc>
              <a:buNone/>
            </a:pPr>
            <a:r>
              <a:rPr lang="en-US" sz="1150">
                <a:solidFill>
                  <a:srgbClr val="97A7C7"/>
                </a:solidFill>
                <a:latin typeface="Calibri"/>
                <a:ea typeface="Calibri"/>
                <a:cs typeface="Calibri"/>
              </a:rPr>
              <a:t>A station is never still. Trains arrive, people walk, the light changes animation belongs </a:t>
            </a:r>
            <a:r>
              <a:rPr lang="en-US" sz="1150" dirty="0">
                <a:solidFill>
                  <a:srgbClr val="97A7C7"/>
                </a:solidFill>
                <a:latin typeface="Calibri"/>
                <a:ea typeface="Calibri"/>
                <a:cs typeface="Calibri"/>
              </a:rPr>
              <a:t>here instead of being added on.</a:t>
            </a:r>
            <a:endParaRPr lang="en-US" sz="1150" dirty="0">
              <a:latin typeface="Calibri"/>
              <a:ea typeface="Calibri"/>
              <a:cs typeface="Calibri"/>
            </a:endParaRPr>
          </a:p>
        </p:txBody>
      </p:sp>
      <p:sp>
        <p:nvSpPr>
          <p:cNvPr id="16" name="Shape 14"/>
          <p:cNvSpPr/>
          <p:nvPr/>
        </p:nvSpPr>
        <p:spPr>
          <a:xfrm>
            <a:off x="658368" y="5212080"/>
            <a:ext cx="6400800" cy="1097280"/>
          </a:xfrm>
          <a:prstGeom prst="rect">
            <a:avLst/>
          </a:prstGeom>
          <a:solidFill>
            <a:srgbClr val="1B2C57"/>
          </a:solidFill>
          <a:ln w="12700">
            <a:solidFill>
              <a:srgbClr val="333333"/>
            </a:solidFill>
            <a:prstDash val="solid"/>
          </a:ln>
        </p:spPr>
        <p:txBody>
          <a:bodyPr/>
          <a:p/>
        </p:txBody>
      </p:sp>
      <p:sp>
        <p:nvSpPr>
          <p:cNvPr id="17" name="Text 15"/>
          <p:cNvSpPr txBox="1"/>
          <p:nvPr/>
        </p:nvSpPr>
        <p:spPr>
          <a:xfrm>
            <a:off x="822960" y="5394960"/>
            <a:ext cx="658368" cy="694944"/>
          </a:xfrm>
          <a:prstGeom prst="rect">
            <a:avLst/>
          </a:prstGeom>
          <a:noFill/>
          <a:ln/>
        </p:spPr>
        <p:txBody>
          <a:bodyPr wrap="square" lIns="0" tIns="0" rIns="0" bIns="0" rtlCol="0" anchor="ctr"/>
          <a:lstStyle/>
          <a:p>
            <a:pPr marL="0" indent="0" algn="ctr">
              <a:buNone/>
            </a:pPr>
            <a:r>
              <a:rPr lang="en-US" sz="2400" b="1" dirty="0">
                <a:solidFill>
                  <a:srgbClr val="F0C43C"/>
                </a:solidFill>
                <a:latin typeface="Courier New" pitchFamily="34" charset="0"/>
                <a:ea typeface="Courier New" pitchFamily="34" charset="-122"/>
                <a:cs typeface="Courier New" pitchFamily="34" charset="-120"/>
              </a:rPr>
              <a:t>04</a:t>
            </a:r>
            <a:endParaRPr lang="en-US" sz="2400" dirty="0"/>
          </a:p>
        </p:txBody>
      </p:sp>
      <p:sp>
        <p:nvSpPr>
          <p:cNvPr id="18" name="Text 16"/>
          <p:cNvSpPr txBox="1"/>
          <p:nvPr/>
        </p:nvSpPr>
        <p:spPr>
          <a:xfrm>
            <a:off x="1572768" y="5358384"/>
            <a:ext cx="5303520" cy="292608"/>
          </a:xfrm>
          <a:prstGeom prst="rect">
            <a:avLst/>
          </a:prstGeom>
          <a:noFill/>
          <a:ln/>
        </p:spPr>
        <p:txBody>
          <a:bodyPr wrap="square" lIns="0" tIns="0" rIns="0" bIns="0" rtlCol="0" anchor="ctr"/>
          <a:lstStyle/>
          <a:p>
            <a:pPr marL="0" indent="0">
              <a:buNone/>
            </a:pPr>
            <a:r>
              <a:rPr lang="en-US" sz="1450" b="1" dirty="0">
                <a:solidFill>
                  <a:srgbClr val="EAEFF8"/>
                </a:solidFill>
                <a:latin typeface="Calibri" pitchFamily="34" charset="0"/>
                <a:ea typeface="Calibri" pitchFamily="34" charset="-122"/>
                <a:cs typeface="Calibri" pitchFamily="34" charset="-120"/>
              </a:rPr>
              <a:t>Depth without 3D</a:t>
            </a:r>
            <a:endParaRPr lang="en-US" sz="1450" dirty="0"/>
          </a:p>
        </p:txBody>
      </p:sp>
      <p:sp>
        <p:nvSpPr>
          <p:cNvPr id="19" name="Text 17"/>
          <p:cNvSpPr txBox="1"/>
          <p:nvPr/>
        </p:nvSpPr>
        <p:spPr>
          <a:xfrm>
            <a:off x="1572768" y="5632704"/>
            <a:ext cx="5321808" cy="566928"/>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Two tracks laid in perspective give the flat scene real distance, using nothing but carefully placed 2D coordinates.</a:t>
            </a:r>
            <a:endParaRPr lang="en-US" sz="1150" dirty="0"/>
          </a:p>
        </p:txBody>
      </p:sp>
      <p:pic>
        <p:nvPicPr>
          <p:cNvPr id="20" name="Image 0" descr="/home/claude/work/shots/evening_tall.png"/>
          <p:cNvPicPr>
            <a:picLocks noChangeAspect="1"/>
          </p:cNvPicPr>
          <p:nvPr/>
        </p:nvPicPr>
        <p:blipFill>
          <a:blip r:embed="rId4"/>
          <a:stretch>
            <a:fillRect/>
          </a:stretch>
        </p:blipFill>
        <p:spPr>
          <a:xfrm>
            <a:off x="7461504" y="1700784"/>
            <a:ext cx="3200400" cy="4197096"/>
          </a:xfrm>
          <a:prstGeom prst="rect">
            <a:avLst/>
          </a:prstGeom>
          <a:effectLst>
            <a:outerShdw blurRad="177800" dist="38100" dir="5400000" algn="bl" rotWithShape="0">
              <a:srgbClr val="000000">
                <a:alpha val="50000"/>
              </a:srgbClr>
            </a:outerShdw>
          </a:effectLst>
        </p:spPr>
      </p:pic>
      <p:sp>
        <p:nvSpPr>
          <p:cNvPr id="21" name="Text 18"/>
          <p:cNvSpPr txBox="1"/>
          <p:nvPr/>
        </p:nvSpPr>
        <p:spPr>
          <a:xfrm>
            <a:off x="7461504" y="5980176"/>
            <a:ext cx="3200400" cy="274320"/>
          </a:xfrm>
          <a:prstGeom prst="rect">
            <a:avLst/>
          </a:prstGeom>
          <a:noFill/>
          <a:ln/>
        </p:spPr>
        <p:txBody>
          <a:bodyPr wrap="square" lIns="0" tIns="0" rIns="0" bIns="0" rtlCol="0" anchor="ctr"/>
          <a:lstStyle/>
          <a:p>
            <a:pPr marL="0" indent="0">
              <a:buNone/>
            </a:pPr>
            <a:r>
              <a:rPr lang="en-US" sz="1050" i="1" dirty="0">
                <a:solidFill>
                  <a:srgbClr val="97A7C7"/>
                </a:solidFill>
                <a:latin typeface="Calibri" pitchFamily="34" charset="0"/>
                <a:ea typeface="Calibri" pitchFamily="34" charset="-122"/>
                <a:cs typeface="Calibri" pitchFamily="34" charset="-120"/>
              </a:rPr>
              <a:t>Night light on the station front</a:t>
            </a:r>
            <a:endParaRPr lang="en-US" sz="1050" dirty="0"/>
          </a:p>
        </p:txBody>
      </p:sp>
      <p:sp>
        <p:nvSpPr>
          <p:cNvPr id="22" name="Text 19"/>
          <p:cNvSpPr txBox="1"/>
          <p:nvPr/>
        </p:nvSpPr>
        <p:spPr>
          <a:xfrm>
            <a:off x="11222431" y="457200"/>
            <a:ext cx="384048" cy="292608"/>
          </a:xfrm>
          <a:prstGeom prst="rect">
            <a:avLst/>
          </a:prstGeom>
          <a:noFill/>
          <a:ln/>
        </p:spPr>
        <p:txBody>
          <a:bodyPr wrap="square" lIns="0" tIns="0" rIns="0" bIns="0" rtlCol="0" anchor="ctr"/>
          <a:lstStyle/>
          <a:p>
            <a:pPr marL="0" indent="0" algn="r">
              <a:buNone/>
            </a:pPr>
            <a:r>
              <a:rPr lang="en-US" sz="1100" dirty="0">
                <a:solidFill>
                  <a:srgbClr val="97A7C7"/>
                </a:solidFill>
                <a:latin typeface="Courier New" pitchFamily="34" charset="0"/>
                <a:ea typeface="Courier New" pitchFamily="34" charset="-122"/>
                <a:cs typeface="Courier New" pitchFamily="34" charset="-120"/>
              </a:rPr>
              <a:t>3</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C3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778240" cy="658368"/>
          </a:xfrm>
          <a:prstGeom prst="rect">
            <a:avLst/>
          </a:prstGeom>
          <a:noFill/>
          <a:ln/>
        </p:spPr>
        <p:txBody>
          <a:bodyPr wrap="square" lIns="0" tIns="0" rIns="0" bIns="0" rtlCol="0" anchor="ctr"/>
          <a:lstStyle/>
          <a:p>
            <a:pPr marL="0" indent="0">
              <a:buNone/>
            </a:pPr>
            <a:r>
              <a:rPr lang="en-US" sz="3400" b="1" dirty="0">
                <a:solidFill>
                  <a:srgbClr val="EAEFF8"/>
                </a:solidFill>
                <a:latin typeface="Cambria" pitchFamily="34" charset="0"/>
                <a:ea typeface="Cambria" pitchFamily="34" charset="-122"/>
                <a:cs typeface="Cambria" pitchFamily="34" charset="-120"/>
              </a:rPr>
              <a:t>Features</a:t>
            </a:r>
            <a:endParaRPr lang="en-US" sz="3400" dirty="0"/>
          </a:p>
        </p:txBody>
      </p:sp>
      <p:sp>
        <p:nvSpPr>
          <p:cNvPr id="3" name="Text 1"/>
          <p:cNvSpPr txBox="1"/>
          <p:nvPr/>
        </p:nvSpPr>
        <p:spPr>
          <a:xfrm>
            <a:off x="658368" y="1042416"/>
            <a:ext cx="10424160" cy="310896"/>
          </a:xfrm>
          <a:prstGeom prst="rect">
            <a:avLst/>
          </a:prstGeom>
          <a:noFill/>
          <a:ln/>
        </p:spPr>
        <p:txBody>
          <a:bodyPr wrap="square" lIns="0" tIns="0" rIns="0" bIns="0" rtlCol="0" anchor="ctr"/>
          <a:lstStyle/>
          <a:p>
            <a:pPr marL="0" indent="0">
              <a:buNone/>
            </a:pPr>
            <a:r>
              <a:rPr lang="en-US" sz="1300" i="1" dirty="0">
                <a:solidFill>
                  <a:srgbClr val="F0C43C"/>
                </a:solidFill>
                <a:latin typeface="Calibri" pitchFamily="34" charset="0"/>
                <a:ea typeface="Calibri" pitchFamily="34" charset="-122"/>
                <a:cs typeface="Calibri" pitchFamily="34" charset="-120"/>
              </a:rPr>
              <a:t>Everything in the scene that moves, changes or answers a key</a:t>
            </a:r>
            <a:endParaRPr lang="en-US" sz="1300" dirty="0"/>
          </a:p>
        </p:txBody>
      </p:sp>
      <p:sp>
        <p:nvSpPr>
          <p:cNvPr id="4" name="Shape 2"/>
          <p:cNvSpPr/>
          <p:nvPr/>
        </p:nvSpPr>
        <p:spPr>
          <a:xfrm>
            <a:off x="658368" y="1700784"/>
            <a:ext cx="3529584" cy="1737360"/>
          </a:xfrm>
          <a:prstGeom prst="rect">
            <a:avLst/>
          </a:prstGeom>
          <a:solidFill>
            <a:srgbClr val="1B2C57"/>
          </a:solidFill>
          <a:ln w="12700">
            <a:solidFill>
              <a:srgbClr val="333333"/>
            </a:solidFill>
            <a:prstDash val="solid"/>
          </a:ln>
        </p:spPr>
        <p:txBody>
          <a:bodyPr/>
          <a:p/>
        </p:txBody>
      </p:sp>
      <p:sp>
        <p:nvSpPr>
          <p:cNvPr id="5" name="Shape 3"/>
          <p:cNvSpPr/>
          <p:nvPr/>
        </p:nvSpPr>
        <p:spPr>
          <a:xfrm>
            <a:off x="896112" y="1956816"/>
            <a:ext cx="182880" cy="182880"/>
          </a:xfrm>
          <a:prstGeom prst="ellipse">
            <a:avLst/>
          </a:prstGeom>
          <a:solidFill>
            <a:srgbClr val="F0C43C"/>
          </a:solidFill>
          <a:ln w="12700">
            <a:solidFill>
              <a:srgbClr val="333333"/>
            </a:solidFill>
            <a:prstDash val="solid"/>
          </a:ln>
        </p:spPr>
        <p:txBody>
          <a:bodyPr/>
          <a:p/>
        </p:txBody>
      </p:sp>
      <p:sp>
        <p:nvSpPr>
          <p:cNvPr id="6" name="Text 4"/>
          <p:cNvSpPr txBox="1"/>
          <p:nvPr/>
        </p:nvSpPr>
        <p:spPr>
          <a:xfrm>
            <a:off x="1188720" y="1883664"/>
            <a:ext cx="2761488" cy="329184"/>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An hour that turns itself</a:t>
            </a:r>
            <a:endParaRPr lang="en-US" sz="1400" dirty="0"/>
          </a:p>
        </p:txBody>
      </p:sp>
      <p:sp>
        <p:nvSpPr>
          <p:cNvPr id="7" name="Text 5"/>
          <p:cNvSpPr txBox="1"/>
          <p:nvPr/>
        </p:nvSpPr>
        <p:spPr>
          <a:xfrm>
            <a:off x="896112" y="2304288"/>
            <a:ext cx="3054096" cy="969264"/>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Day and night follow one another with no key pressed. The tint travels gradually, so nothing ever snaps.</a:t>
            </a:r>
            <a:endParaRPr lang="en-US" sz="1150" dirty="0"/>
          </a:p>
        </p:txBody>
      </p:sp>
      <p:sp>
        <p:nvSpPr>
          <p:cNvPr id="8" name="Shape 6"/>
          <p:cNvSpPr/>
          <p:nvPr/>
        </p:nvSpPr>
        <p:spPr>
          <a:xfrm>
            <a:off x="4572000" y="1700784"/>
            <a:ext cx="3529584" cy="1737360"/>
          </a:xfrm>
          <a:prstGeom prst="rect">
            <a:avLst/>
          </a:prstGeom>
          <a:solidFill>
            <a:srgbClr val="1B2C57"/>
          </a:solidFill>
          <a:ln w="12700">
            <a:solidFill>
              <a:srgbClr val="333333"/>
            </a:solidFill>
            <a:prstDash val="solid"/>
          </a:ln>
        </p:spPr>
        <p:txBody>
          <a:bodyPr/>
          <a:p/>
        </p:txBody>
      </p:sp>
      <p:sp>
        <p:nvSpPr>
          <p:cNvPr id="9" name="Shape 7"/>
          <p:cNvSpPr/>
          <p:nvPr/>
        </p:nvSpPr>
        <p:spPr>
          <a:xfrm>
            <a:off x="4809744" y="1956816"/>
            <a:ext cx="182880" cy="182880"/>
          </a:xfrm>
          <a:prstGeom prst="ellipse">
            <a:avLst/>
          </a:prstGeom>
          <a:solidFill>
            <a:srgbClr val="F0C43C"/>
          </a:solidFill>
          <a:ln w="12700">
            <a:solidFill>
              <a:srgbClr val="333333"/>
            </a:solidFill>
            <a:prstDash val="solid"/>
          </a:ln>
        </p:spPr>
        <p:txBody>
          <a:bodyPr/>
          <a:p/>
        </p:txBody>
      </p:sp>
      <p:sp>
        <p:nvSpPr>
          <p:cNvPr id="10" name="Text 8"/>
          <p:cNvSpPr txBox="1"/>
          <p:nvPr/>
        </p:nvSpPr>
        <p:spPr>
          <a:xfrm>
            <a:off x="5102352" y="1883664"/>
            <a:ext cx="2761488" cy="329184"/>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Two trains</a:t>
            </a:r>
            <a:endParaRPr lang="en-US" sz="1400" dirty="0"/>
          </a:p>
        </p:txBody>
      </p:sp>
      <p:sp>
        <p:nvSpPr>
          <p:cNvPr id="11" name="Text 9"/>
          <p:cNvSpPr txBox="1"/>
          <p:nvPr/>
        </p:nvSpPr>
        <p:spPr>
          <a:xfrm>
            <a:off x="4809744" y="2304288"/>
            <a:ext cx="3054096" cy="969264"/>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One train waits at the platform on track 1. The other runs the near track from right to left, and only when it is called. Each pulls three coaches.</a:t>
            </a:r>
            <a:endParaRPr lang="en-US" sz="1150" dirty="0"/>
          </a:p>
        </p:txBody>
      </p:sp>
      <p:sp>
        <p:nvSpPr>
          <p:cNvPr id="12" name="Shape 10"/>
          <p:cNvSpPr/>
          <p:nvPr/>
        </p:nvSpPr>
        <p:spPr>
          <a:xfrm>
            <a:off x="8485632" y="1700784"/>
            <a:ext cx="3529584" cy="1737360"/>
          </a:xfrm>
          <a:prstGeom prst="rect">
            <a:avLst/>
          </a:prstGeom>
          <a:solidFill>
            <a:srgbClr val="1B2C57"/>
          </a:solidFill>
          <a:ln w="12700">
            <a:solidFill>
              <a:srgbClr val="333333"/>
            </a:solidFill>
            <a:prstDash val="solid"/>
          </a:ln>
        </p:spPr>
        <p:txBody>
          <a:bodyPr/>
          <a:p/>
        </p:txBody>
      </p:sp>
      <p:sp>
        <p:nvSpPr>
          <p:cNvPr id="13" name="Shape 11"/>
          <p:cNvSpPr/>
          <p:nvPr/>
        </p:nvSpPr>
        <p:spPr>
          <a:xfrm>
            <a:off x="8723376" y="1956816"/>
            <a:ext cx="182880" cy="182880"/>
          </a:xfrm>
          <a:prstGeom prst="ellipse">
            <a:avLst/>
          </a:prstGeom>
          <a:solidFill>
            <a:srgbClr val="F0C43C"/>
          </a:solidFill>
          <a:ln w="12700">
            <a:solidFill>
              <a:srgbClr val="333333"/>
            </a:solidFill>
            <a:prstDash val="solid"/>
          </a:ln>
        </p:spPr>
        <p:txBody>
          <a:bodyPr/>
          <a:p/>
        </p:txBody>
      </p:sp>
      <p:sp>
        <p:nvSpPr>
          <p:cNvPr id="14" name="Text 12"/>
          <p:cNvSpPr txBox="1"/>
          <p:nvPr/>
        </p:nvSpPr>
        <p:spPr>
          <a:xfrm>
            <a:off x="9015984" y="1883664"/>
            <a:ext cx="2761488" cy="329184"/>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Six passengers</a:t>
            </a:r>
            <a:endParaRPr lang="en-US" sz="1400" dirty="0"/>
          </a:p>
        </p:txBody>
      </p:sp>
      <p:sp>
        <p:nvSpPr>
          <p:cNvPr id="15" name="Text 13"/>
          <p:cNvSpPr txBox="1"/>
          <p:nvPr/>
        </p:nvSpPr>
        <p:spPr>
          <a:xfrm>
            <a:off x="8723376" y="2304288"/>
            <a:ext cx="3054096" cy="969264"/>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Each stroll has its own speed and its own two turning points, so no two people ever walk in step.</a:t>
            </a:r>
            <a:endParaRPr lang="en-US" sz="1150" dirty="0"/>
          </a:p>
        </p:txBody>
      </p:sp>
      <p:sp>
        <p:nvSpPr>
          <p:cNvPr id="16" name="Shape 14"/>
          <p:cNvSpPr/>
          <p:nvPr/>
        </p:nvSpPr>
        <p:spPr>
          <a:xfrm>
            <a:off x="658368" y="3822192"/>
            <a:ext cx="3529584" cy="1737360"/>
          </a:xfrm>
          <a:prstGeom prst="rect">
            <a:avLst/>
          </a:prstGeom>
          <a:solidFill>
            <a:srgbClr val="1B2C57"/>
          </a:solidFill>
          <a:ln w="12700">
            <a:solidFill>
              <a:srgbClr val="333333"/>
            </a:solidFill>
            <a:prstDash val="solid"/>
          </a:ln>
        </p:spPr>
        <p:txBody>
          <a:bodyPr/>
          <a:p/>
        </p:txBody>
      </p:sp>
      <p:sp>
        <p:nvSpPr>
          <p:cNvPr id="17" name="Shape 15"/>
          <p:cNvSpPr/>
          <p:nvPr/>
        </p:nvSpPr>
        <p:spPr>
          <a:xfrm>
            <a:off x="896112" y="4078224"/>
            <a:ext cx="182880" cy="182880"/>
          </a:xfrm>
          <a:prstGeom prst="ellipse">
            <a:avLst/>
          </a:prstGeom>
          <a:solidFill>
            <a:srgbClr val="F0C43C"/>
          </a:solidFill>
          <a:ln w="12700">
            <a:solidFill>
              <a:srgbClr val="333333"/>
            </a:solidFill>
            <a:prstDash val="solid"/>
          </a:ln>
        </p:spPr>
        <p:txBody>
          <a:bodyPr/>
          <a:p/>
        </p:txBody>
      </p:sp>
      <p:sp>
        <p:nvSpPr>
          <p:cNvPr id="18" name="Text 16"/>
          <p:cNvSpPr txBox="1"/>
          <p:nvPr/>
        </p:nvSpPr>
        <p:spPr>
          <a:xfrm>
            <a:off x="1188720" y="4005072"/>
            <a:ext cx="2761488" cy="329184"/>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Sun, moon, stars, clouds</a:t>
            </a:r>
            <a:endParaRPr lang="en-US" sz="1400" dirty="0"/>
          </a:p>
        </p:txBody>
      </p:sp>
      <p:sp>
        <p:nvSpPr>
          <p:cNvPr id="19" name="Text 17"/>
          <p:cNvSpPr txBox="1"/>
          <p:nvPr/>
        </p:nvSpPr>
        <p:spPr>
          <a:xfrm>
            <a:off x="896112" y="4425696"/>
            <a:ext cx="3054096" cy="969264"/>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The sun sinks behind the station as night comes on, while the moon, 80 stars and three lamp halos fade up in its place. Clouds drift across the sky and wrap round.</a:t>
            </a:r>
            <a:endParaRPr lang="en-US" sz="1150" dirty="0"/>
          </a:p>
        </p:txBody>
      </p:sp>
      <p:sp>
        <p:nvSpPr>
          <p:cNvPr id="20" name="Shape 18"/>
          <p:cNvSpPr/>
          <p:nvPr/>
        </p:nvSpPr>
        <p:spPr>
          <a:xfrm>
            <a:off x="4572000" y="3822192"/>
            <a:ext cx="3529584" cy="1737360"/>
          </a:xfrm>
          <a:prstGeom prst="rect">
            <a:avLst/>
          </a:prstGeom>
          <a:solidFill>
            <a:srgbClr val="1B2C57"/>
          </a:solidFill>
          <a:ln w="12700">
            <a:solidFill>
              <a:srgbClr val="333333"/>
            </a:solidFill>
            <a:prstDash val="solid"/>
          </a:ln>
        </p:spPr>
        <p:txBody>
          <a:bodyPr/>
          <a:p/>
        </p:txBody>
      </p:sp>
      <p:sp>
        <p:nvSpPr>
          <p:cNvPr id="21" name="Shape 19"/>
          <p:cNvSpPr/>
          <p:nvPr/>
        </p:nvSpPr>
        <p:spPr>
          <a:xfrm>
            <a:off x="4809744" y="4078224"/>
            <a:ext cx="182880" cy="182880"/>
          </a:xfrm>
          <a:prstGeom prst="ellipse">
            <a:avLst/>
          </a:prstGeom>
          <a:solidFill>
            <a:srgbClr val="F0C43C"/>
          </a:solidFill>
          <a:ln w="12700">
            <a:solidFill>
              <a:srgbClr val="333333"/>
            </a:solidFill>
            <a:prstDash val="solid"/>
          </a:ln>
        </p:spPr>
        <p:txBody>
          <a:bodyPr/>
          <a:p/>
        </p:txBody>
      </p:sp>
      <p:sp>
        <p:nvSpPr>
          <p:cNvPr id="22" name="Text 20"/>
          <p:cNvSpPr txBox="1"/>
          <p:nvPr/>
        </p:nvSpPr>
        <p:spPr>
          <a:xfrm>
            <a:off x="5102352" y="4005072"/>
            <a:ext cx="2761488" cy="329184"/>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Keyboard control</a:t>
            </a:r>
            <a:endParaRPr lang="en-US" sz="1400" dirty="0"/>
          </a:p>
        </p:txBody>
      </p:sp>
      <p:sp>
        <p:nvSpPr>
          <p:cNvPr id="23" name="Text 21"/>
          <p:cNvSpPr txBox="1"/>
          <p:nvPr/>
        </p:nvSpPr>
        <p:spPr>
          <a:xfrm>
            <a:off x="4809744" y="4425696"/>
            <a:ext cx="3054096" cy="969264"/>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DOWN stops the platform train and UP starts it. RIGHT sends the through train across. R turns the rain on and off.</a:t>
            </a:r>
            <a:endParaRPr lang="en-US" sz="1150" dirty="0"/>
          </a:p>
        </p:txBody>
      </p:sp>
      <p:sp>
        <p:nvSpPr>
          <p:cNvPr id="24" name="Shape 22"/>
          <p:cNvSpPr/>
          <p:nvPr/>
        </p:nvSpPr>
        <p:spPr>
          <a:xfrm>
            <a:off x="8485632" y="3822192"/>
            <a:ext cx="3529584" cy="1737360"/>
          </a:xfrm>
          <a:prstGeom prst="rect">
            <a:avLst/>
          </a:prstGeom>
          <a:solidFill>
            <a:srgbClr val="1B2C57"/>
          </a:solidFill>
          <a:ln w="12700">
            <a:solidFill>
              <a:srgbClr val="333333"/>
            </a:solidFill>
            <a:prstDash val="solid"/>
          </a:ln>
        </p:spPr>
        <p:txBody>
          <a:bodyPr/>
          <a:p/>
        </p:txBody>
      </p:sp>
      <p:sp>
        <p:nvSpPr>
          <p:cNvPr id="25" name="Shape 23"/>
          <p:cNvSpPr/>
          <p:nvPr/>
        </p:nvSpPr>
        <p:spPr>
          <a:xfrm>
            <a:off x="8723376" y="4078224"/>
            <a:ext cx="182880" cy="182880"/>
          </a:xfrm>
          <a:prstGeom prst="ellipse">
            <a:avLst/>
          </a:prstGeom>
          <a:solidFill>
            <a:srgbClr val="F0C43C"/>
          </a:solidFill>
          <a:ln w="12700">
            <a:solidFill>
              <a:srgbClr val="333333"/>
            </a:solidFill>
            <a:prstDash val="solid"/>
          </a:ln>
        </p:spPr>
        <p:txBody>
          <a:bodyPr/>
          <a:p/>
        </p:txBody>
      </p:sp>
      <p:sp>
        <p:nvSpPr>
          <p:cNvPr id="26" name="Text 24"/>
          <p:cNvSpPr txBox="1"/>
          <p:nvPr/>
        </p:nvSpPr>
        <p:spPr>
          <a:xfrm>
            <a:off x="9015984" y="4005072"/>
            <a:ext cx="2761488" cy="329184"/>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Three soundscapes</a:t>
            </a:r>
            <a:endParaRPr lang="en-US" sz="1400" dirty="0"/>
          </a:p>
        </p:txBody>
      </p:sp>
      <p:sp>
        <p:nvSpPr>
          <p:cNvPr id="27" name="Text 25"/>
          <p:cNvSpPr txBox="1"/>
          <p:nvPr/>
        </p:nvSpPr>
        <p:spPr>
          <a:xfrm>
            <a:off x="8723376" y="4425696"/>
            <a:ext cx="3054096" cy="969264"/>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Day and night each carry a looping ambience and the rain brings a third. The through train blows a whistle that the ambience politely waits out.</a:t>
            </a:r>
            <a:endParaRPr lang="en-US" sz="1150" dirty="0"/>
          </a:p>
        </p:txBody>
      </p:sp>
      <p:sp>
        <p:nvSpPr>
          <p:cNvPr id="28" name="Shape 26"/>
          <p:cNvSpPr/>
          <p:nvPr/>
        </p:nvSpPr>
        <p:spPr>
          <a:xfrm>
            <a:off x="658368" y="5760720"/>
            <a:ext cx="1005840" cy="512064"/>
          </a:xfrm>
          <a:prstGeom prst="roundRect">
            <a:avLst>
              <a:gd name="adj" fmla="val 14286"/>
            </a:avLst>
          </a:prstGeom>
          <a:solidFill>
            <a:srgbClr val="1B2C57"/>
          </a:solidFill>
          <a:ln w="12700">
            <a:solidFill>
              <a:srgbClr val="F0C43C"/>
            </a:solidFill>
            <a:prstDash val="solid"/>
          </a:ln>
        </p:spPr>
        <p:txBody>
          <a:bodyPr/>
          <a:p/>
        </p:txBody>
      </p:sp>
      <p:sp>
        <p:nvSpPr>
          <p:cNvPr id="29" name="Text 27"/>
          <p:cNvSpPr txBox="1"/>
          <p:nvPr/>
        </p:nvSpPr>
        <p:spPr>
          <a:xfrm>
            <a:off x="658368" y="5760720"/>
            <a:ext cx="1005840" cy="512064"/>
          </a:xfrm>
          <a:prstGeom prst="rect">
            <a:avLst/>
          </a:prstGeom>
          <a:noFill/>
          <a:ln/>
        </p:spPr>
        <p:txBody>
          <a:bodyPr wrap="square" lIns="0" tIns="0" rIns="0" bIns="0" rtlCol="0" anchor="ctr"/>
          <a:lstStyle/>
          <a:p>
            <a:pPr marL="0" indent="0" algn="ctr">
              <a:buNone/>
            </a:pPr>
            <a:r>
              <a:rPr lang="en-US" sz="1200" b="1" dirty="0">
                <a:solidFill>
                  <a:srgbClr val="F0C43C"/>
                </a:solidFill>
                <a:latin typeface="Courier New" pitchFamily="34" charset="0"/>
                <a:ea typeface="Courier New" pitchFamily="34" charset="-122"/>
                <a:cs typeface="Courier New" pitchFamily="34" charset="-120"/>
              </a:rPr>
              <a:t>UP</a:t>
            </a:r>
            <a:endParaRPr lang="en-US" sz="1200" dirty="0"/>
          </a:p>
        </p:txBody>
      </p:sp>
      <p:sp>
        <p:nvSpPr>
          <p:cNvPr id="30" name="Text 28"/>
          <p:cNvSpPr txBox="1"/>
          <p:nvPr/>
        </p:nvSpPr>
        <p:spPr>
          <a:xfrm>
            <a:off x="1810512" y="5760720"/>
            <a:ext cx="1783080" cy="512064"/>
          </a:xfrm>
          <a:prstGeom prst="rect">
            <a:avLst/>
          </a:prstGeom>
          <a:noFill/>
          <a:ln/>
        </p:spPr>
        <p:txBody>
          <a:bodyPr wrap="square" lIns="0" tIns="0" rIns="0" bIns="0" rtlCol="0" anchor="ctr"/>
          <a:lstStyle/>
          <a:p>
            <a:pPr marL="0" indent="0">
              <a:buNone/>
            </a:pPr>
            <a:r>
              <a:rPr lang="en-US" sz="1200" dirty="0">
                <a:solidFill>
                  <a:srgbClr val="97A7C7"/>
                </a:solidFill>
                <a:latin typeface="Calibri" pitchFamily="34" charset="0"/>
                <a:ea typeface="Calibri" pitchFamily="34" charset="-122"/>
                <a:cs typeface="Calibri" pitchFamily="34" charset="-120"/>
              </a:rPr>
              <a:t>start the platform train</a:t>
            </a:r>
            <a:endParaRPr lang="en-US" sz="1200" dirty="0"/>
          </a:p>
        </p:txBody>
      </p:sp>
      <p:sp>
        <p:nvSpPr>
          <p:cNvPr id="31" name="Shape 29"/>
          <p:cNvSpPr/>
          <p:nvPr/>
        </p:nvSpPr>
        <p:spPr>
          <a:xfrm>
            <a:off x="3529584" y="5760720"/>
            <a:ext cx="1005840" cy="512064"/>
          </a:xfrm>
          <a:prstGeom prst="roundRect">
            <a:avLst>
              <a:gd name="adj" fmla="val 14286"/>
            </a:avLst>
          </a:prstGeom>
          <a:solidFill>
            <a:srgbClr val="1B2C57"/>
          </a:solidFill>
          <a:ln w="12700">
            <a:solidFill>
              <a:srgbClr val="F0C43C"/>
            </a:solidFill>
            <a:prstDash val="solid"/>
          </a:ln>
        </p:spPr>
        <p:txBody>
          <a:bodyPr/>
          <a:p/>
        </p:txBody>
      </p:sp>
      <p:sp>
        <p:nvSpPr>
          <p:cNvPr id="32" name="Text 30"/>
          <p:cNvSpPr txBox="1"/>
          <p:nvPr/>
        </p:nvSpPr>
        <p:spPr>
          <a:xfrm>
            <a:off x="3529584" y="5760720"/>
            <a:ext cx="1005840" cy="512064"/>
          </a:xfrm>
          <a:prstGeom prst="rect">
            <a:avLst/>
          </a:prstGeom>
          <a:noFill/>
          <a:ln/>
        </p:spPr>
        <p:txBody>
          <a:bodyPr wrap="square" lIns="0" tIns="0" rIns="0" bIns="0" rtlCol="0" anchor="ctr"/>
          <a:lstStyle/>
          <a:p>
            <a:pPr marL="0" indent="0" algn="ctr">
              <a:buNone/>
            </a:pPr>
            <a:r>
              <a:rPr lang="en-US" sz="1200" b="1" dirty="0">
                <a:solidFill>
                  <a:srgbClr val="F0C43C"/>
                </a:solidFill>
                <a:latin typeface="Courier New" pitchFamily="34" charset="0"/>
                <a:ea typeface="Courier New" pitchFamily="34" charset="-122"/>
                <a:cs typeface="Courier New" pitchFamily="34" charset="-120"/>
              </a:rPr>
              <a:t>DOWN</a:t>
            </a:r>
            <a:endParaRPr lang="en-US" sz="1200" dirty="0"/>
          </a:p>
        </p:txBody>
      </p:sp>
      <p:sp>
        <p:nvSpPr>
          <p:cNvPr id="33" name="Text 31"/>
          <p:cNvSpPr txBox="1"/>
          <p:nvPr/>
        </p:nvSpPr>
        <p:spPr>
          <a:xfrm>
            <a:off x="4681728" y="5760720"/>
            <a:ext cx="1783080" cy="512064"/>
          </a:xfrm>
          <a:prstGeom prst="rect">
            <a:avLst/>
          </a:prstGeom>
          <a:noFill/>
          <a:ln/>
        </p:spPr>
        <p:txBody>
          <a:bodyPr wrap="square" lIns="0" tIns="0" rIns="0" bIns="0" rtlCol="0" anchor="ctr"/>
          <a:lstStyle/>
          <a:p>
            <a:pPr marL="0" indent="0">
              <a:buNone/>
            </a:pPr>
            <a:r>
              <a:rPr lang="en-US" sz="1200" dirty="0">
                <a:solidFill>
                  <a:srgbClr val="97A7C7"/>
                </a:solidFill>
                <a:latin typeface="Calibri" pitchFamily="34" charset="0"/>
                <a:ea typeface="Calibri" pitchFamily="34" charset="-122"/>
                <a:cs typeface="Calibri" pitchFamily="34" charset="-120"/>
              </a:rPr>
              <a:t>stop it at the station</a:t>
            </a:r>
            <a:endParaRPr lang="en-US" sz="1200" dirty="0"/>
          </a:p>
        </p:txBody>
      </p:sp>
      <p:sp>
        <p:nvSpPr>
          <p:cNvPr id="34" name="Shape 32"/>
          <p:cNvSpPr/>
          <p:nvPr/>
        </p:nvSpPr>
        <p:spPr>
          <a:xfrm>
            <a:off x="6400800" y="5760720"/>
            <a:ext cx="1005840" cy="512064"/>
          </a:xfrm>
          <a:prstGeom prst="roundRect">
            <a:avLst>
              <a:gd name="adj" fmla="val 14286"/>
            </a:avLst>
          </a:prstGeom>
          <a:solidFill>
            <a:srgbClr val="1B2C57"/>
          </a:solidFill>
          <a:ln w="12700">
            <a:solidFill>
              <a:srgbClr val="F0C43C"/>
            </a:solidFill>
            <a:prstDash val="solid"/>
          </a:ln>
        </p:spPr>
        <p:txBody>
          <a:bodyPr/>
          <a:p/>
        </p:txBody>
      </p:sp>
      <p:sp>
        <p:nvSpPr>
          <p:cNvPr id="35" name="Text 33"/>
          <p:cNvSpPr txBox="1"/>
          <p:nvPr/>
        </p:nvSpPr>
        <p:spPr>
          <a:xfrm>
            <a:off x="6400800" y="5760720"/>
            <a:ext cx="1005840" cy="512064"/>
          </a:xfrm>
          <a:prstGeom prst="rect">
            <a:avLst/>
          </a:prstGeom>
          <a:noFill/>
          <a:ln/>
        </p:spPr>
        <p:txBody>
          <a:bodyPr wrap="square" lIns="0" tIns="0" rIns="0" bIns="0" rtlCol="0" anchor="ctr"/>
          <a:lstStyle/>
          <a:p>
            <a:pPr marL="0" indent="0" algn="ctr">
              <a:buNone/>
            </a:pPr>
            <a:r>
              <a:rPr lang="en-US" sz="1200" b="1" dirty="0">
                <a:solidFill>
                  <a:srgbClr val="F0C43C"/>
                </a:solidFill>
                <a:latin typeface="Courier New" pitchFamily="34" charset="0"/>
                <a:ea typeface="Courier New" pitchFamily="34" charset="-122"/>
                <a:cs typeface="Courier New" pitchFamily="34" charset="-120"/>
              </a:rPr>
              <a:t>RIGHT</a:t>
            </a:r>
            <a:endParaRPr lang="en-US" sz="1200" dirty="0"/>
          </a:p>
        </p:txBody>
      </p:sp>
      <p:sp>
        <p:nvSpPr>
          <p:cNvPr id="36" name="Text 34"/>
          <p:cNvSpPr txBox="1"/>
          <p:nvPr/>
        </p:nvSpPr>
        <p:spPr>
          <a:xfrm>
            <a:off x="7552944" y="5760720"/>
            <a:ext cx="1783080" cy="512064"/>
          </a:xfrm>
          <a:prstGeom prst="rect">
            <a:avLst/>
          </a:prstGeom>
          <a:noFill/>
          <a:ln/>
        </p:spPr>
        <p:txBody>
          <a:bodyPr wrap="square" lIns="0" tIns="0" rIns="0" bIns="0" rtlCol="0" anchor="ctr"/>
          <a:lstStyle/>
          <a:p>
            <a:pPr marL="0" indent="0">
              <a:buNone/>
            </a:pPr>
            <a:r>
              <a:rPr lang="en-US" sz="1200" dirty="0">
                <a:solidFill>
                  <a:srgbClr val="97A7C7"/>
                </a:solidFill>
                <a:latin typeface="Calibri" pitchFamily="34" charset="0"/>
                <a:ea typeface="Calibri" pitchFamily="34" charset="-122"/>
                <a:cs typeface="Calibri" pitchFamily="34" charset="-120"/>
              </a:rPr>
              <a:t>send the through train</a:t>
            </a:r>
            <a:endParaRPr lang="en-US" sz="1200" dirty="0"/>
          </a:p>
        </p:txBody>
      </p:sp>
      <p:sp>
        <p:nvSpPr>
          <p:cNvPr id="37" name="Text 35"/>
          <p:cNvSpPr txBox="1"/>
          <p:nvPr/>
        </p:nvSpPr>
        <p:spPr>
          <a:xfrm>
            <a:off x="11222431" y="457200"/>
            <a:ext cx="384048" cy="292608"/>
          </a:xfrm>
          <a:prstGeom prst="rect">
            <a:avLst/>
          </a:prstGeom>
          <a:noFill/>
          <a:ln/>
        </p:spPr>
        <p:txBody>
          <a:bodyPr wrap="square" lIns="0" tIns="0" rIns="0" bIns="0" rtlCol="0" anchor="ctr"/>
          <a:lstStyle/>
          <a:p>
            <a:pPr marL="0" indent="0" algn="r">
              <a:buNone/>
            </a:pPr>
            <a:r>
              <a:rPr lang="en-US" sz="1100" dirty="0">
                <a:solidFill>
                  <a:srgbClr val="97A7C7"/>
                </a:solidFill>
                <a:latin typeface="Courier New" pitchFamily="34" charset="0"/>
                <a:ea typeface="Courier New" pitchFamily="34" charset="-122"/>
                <a:cs typeface="Courier New" pitchFamily="34" charset="-120"/>
              </a:rPr>
              <a:t>4</a:t>
            </a:r>
            <a:endParaRPr lang="en-US" sz="1100" dirty="0"/>
          </a:p>
        </p:txBody>
      </p:sp>
      <p:sp>
        <p:nvSpPr>
          <p:cNvPr id="34" name="Shape 32"/>
          <p:cNvSpPr/>
          <p:nvPr/>
        </p:nvSpPr>
        <p:spPr>
          <a:xfrm>
            <a:off x="9272016" y="5760720"/>
            <a:ext cx="1005840" cy="512064"/>
          </a:xfrm>
          <a:prstGeom prst="roundRect">
            <a:avLst>
              <a:gd name="adj" fmla="val 14286"/>
            </a:avLst>
          </a:prstGeom>
          <a:solidFill>
            <a:srgbClr val="1B2C57"/>
          </a:solidFill>
          <a:ln w="12700">
            <a:solidFill>
              <a:srgbClr val="F0C43C"/>
            </a:solidFill>
            <a:prstDash val="solid"/>
          </a:ln>
        </p:spPr>
        <p:txBody>
          <a:bodyPr/>
          <a:p/>
        </p:txBody>
      </p:sp>
      <p:sp>
        <p:nvSpPr>
          <p:cNvPr id="35" name="Text 33"/>
          <p:cNvSpPr txBox="1"/>
          <p:nvPr/>
        </p:nvSpPr>
        <p:spPr>
          <a:xfrm>
            <a:off x="9272016" y="5760720"/>
            <a:ext cx="1005840" cy="512064"/>
          </a:xfrm>
          <a:prstGeom prst="rect">
            <a:avLst/>
          </a:prstGeom>
          <a:noFill/>
          <a:ln/>
        </p:spPr>
        <p:txBody>
          <a:bodyPr wrap="square" lIns="0" tIns="0" rIns="0" bIns="0" rtlCol="0" anchor="ctr"/>
          <a:lstStyle/>
          <a:p>
            <a:pPr marL="0" indent="0" algn="ctr">
              <a:buNone/>
            </a:pPr>
            <a:r>
              <a:rPr lang="en-US" sz="1200" b="1" dirty="0">
                <a:solidFill>
                  <a:srgbClr val="F0C43C"/>
                </a:solidFill>
                <a:latin typeface="Courier New" pitchFamily="34" charset="0"/>
                <a:ea typeface="Courier New" pitchFamily="34" charset="-122"/>
                <a:cs typeface="Courier New" pitchFamily="34" charset="-120"/>
              </a:rPr>
              <a:t>R</a:t>
            </a:r>
            <a:endParaRPr lang="en-US" sz="1200" dirty="0"/>
          </a:p>
        </p:txBody>
      </p:sp>
      <p:sp>
        <p:nvSpPr>
          <p:cNvPr id="36" name="Text 34"/>
          <p:cNvSpPr txBox="1"/>
          <p:nvPr/>
        </p:nvSpPr>
        <p:spPr>
          <a:xfrm>
            <a:off x="10424160" y="5760720"/>
            <a:ext cx="1783080" cy="512064"/>
          </a:xfrm>
          <a:prstGeom prst="rect">
            <a:avLst/>
          </a:prstGeom>
          <a:noFill/>
          <a:ln/>
        </p:spPr>
        <p:txBody>
          <a:bodyPr wrap="square" lIns="0" tIns="0" rIns="0" bIns="0" rtlCol="0" anchor="ctr"/>
          <a:lstStyle/>
          <a:p>
            <a:pPr marL="0" indent="0">
              <a:buNone/>
            </a:pPr>
            <a:r>
              <a:rPr lang="en-US" sz="1200" dirty="0">
                <a:solidFill>
                  <a:srgbClr val="97A7C7"/>
                </a:solidFill>
                <a:latin typeface="Calibri" pitchFamily="34" charset="0"/>
                <a:ea typeface="Calibri" pitchFamily="34" charset="-122"/>
                <a:cs typeface="Calibri" pitchFamily="34" charset="-120"/>
              </a:rPr>
              <a:t>rain on and off</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01C3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778240" cy="658368"/>
          </a:xfrm>
          <a:prstGeom prst="rect">
            <a:avLst/>
          </a:prstGeom>
          <a:noFill/>
          <a:ln/>
        </p:spPr>
        <p:txBody>
          <a:bodyPr wrap="square" lIns="0" tIns="0" rIns="0" bIns="0" rtlCol="0" anchor="ctr"/>
          <a:lstStyle/>
          <a:p>
            <a:pPr marL="0" indent="0">
              <a:buNone/>
            </a:pPr>
            <a:r>
              <a:rPr lang="en-US" sz="3400" b="1" dirty="0">
                <a:solidFill>
                  <a:srgbClr val="EAEFF8"/>
                </a:solidFill>
                <a:latin typeface="Cambria" pitchFamily="34" charset="0"/>
                <a:ea typeface="Cambria" pitchFamily="34" charset="-122"/>
                <a:cs typeface="Cambria" pitchFamily="34" charset="-120"/>
              </a:rPr>
              <a:t>Screenshots</a:t>
            </a:r>
            <a:endParaRPr lang="en-US" sz="3400" dirty="0"/>
          </a:p>
        </p:txBody>
      </p:sp>
      <p:sp>
        <p:nvSpPr>
          <p:cNvPr id="3" name="Text 1"/>
          <p:cNvSpPr txBox="1"/>
          <p:nvPr/>
        </p:nvSpPr>
        <p:spPr>
          <a:xfrm>
            <a:off x="658368" y="1042416"/>
            <a:ext cx="10424160" cy="310896"/>
          </a:xfrm>
          <a:prstGeom prst="rect">
            <a:avLst/>
          </a:prstGeom>
          <a:noFill/>
          <a:ln/>
        </p:spPr>
        <p:txBody>
          <a:bodyPr wrap="square" lIns="0" tIns="0" rIns="0" bIns="0" rtlCol="0" anchor="ctr"/>
          <a:lstStyle/>
          <a:p>
            <a:r>
              <a:rPr lang="en-US" sz="1300" i="1">
                <a:solidFill>
                  <a:srgbClr val="F0C43C"/>
                </a:solidFill>
                <a:latin typeface="Calibri"/>
                <a:ea typeface="Calibri"/>
                <a:cs typeface="Calibri"/>
              </a:rPr>
              <a:t>One scene, its three states, and both trains on the tracks</a:t>
            </a:r>
            <a:endParaRPr lang="en-US" sz="1300">
              <a:latin typeface="Calibri"/>
              <a:ea typeface="Calibri"/>
              <a:cs typeface="Calibri"/>
            </a:endParaRPr>
          </a:p>
        </p:txBody>
      </p:sp>
      <p:pic>
        <p:nvPicPr>
          <p:cNvPr id="4" name="Image 0" descr="/home/claude/work/shots/day_wide.png"/>
          <p:cNvPicPr>
            <a:picLocks noChangeAspect="1"/>
          </p:cNvPicPr>
          <p:nvPr/>
        </p:nvPicPr>
        <p:blipFill>
          <a:blip r:embed="rId7"/>
          <a:stretch>
            <a:fillRect/>
          </a:stretch>
        </p:blipFill>
        <p:spPr>
          <a:xfrm>
            <a:off x="768096" y="1627632"/>
            <a:ext cx="5120640" cy="2048256"/>
          </a:xfrm>
          <a:prstGeom prst="rect">
            <a:avLst/>
          </a:prstGeom>
          <a:effectLst>
            <a:outerShdw blurRad="152400" dist="38100" dir="5400000" algn="bl" rotWithShape="0">
              <a:srgbClr val="000000">
                <a:alpha val="50000"/>
              </a:srgbClr>
            </a:outerShdw>
          </a:effectLst>
        </p:spPr>
      </p:pic>
      <p:sp>
        <p:nvSpPr>
          <p:cNvPr id="5" name="Text 2"/>
          <p:cNvSpPr txBox="1"/>
          <p:nvPr/>
        </p:nvSpPr>
        <p:spPr>
          <a:xfrm>
            <a:off x="768096" y="3739896"/>
            <a:ext cx="2468880" cy="256032"/>
          </a:xfrm>
          <a:prstGeom prst="rect">
            <a:avLst/>
          </a:prstGeom>
          <a:noFill/>
          <a:ln/>
        </p:spPr>
        <p:txBody>
          <a:bodyPr wrap="square" lIns="0" tIns="0" rIns="0" bIns="0" rtlCol="0" anchor="ctr"/>
          <a:lstStyle/>
          <a:p>
            <a:pPr marL="0" indent="0">
              <a:buNone/>
            </a:pPr>
            <a:r>
              <a:rPr lang="en-US" sz="1300" b="1" dirty="0">
                <a:solidFill>
                  <a:srgbClr val="EAEFF8"/>
                </a:solidFill>
                <a:latin typeface="Calibri" pitchFamily="34" charset="0"/>
                <a:ea typeface="Calibri" pitchFamily="34" charset="-122"/>
                <a:cs typeface="Calibri" pitchFamily="34" charset="-120"/>
              </a:rPr>
              <a:t>Clear day</a:t>
            </a:r>
            <a:endParaRPr lang="en-US" sz="1300" dirty="0"/>
          </a:p>
        </p:txBody>
      </p:sp>
      <p:pic>
        <p:nvPicPr>
          <p:cNvPr id="7" name="Image 1" descr="/home/claude/work/shots/rain_wide.png"/>
          <p:cNvPicPr>
            <a:picLocks noChangeAspect="1"/>
          </p:cNvPicPr>
          <p:nvPr/>
        </p:nvPicPr>
        <p:blipFill>
          <a:blip r:embed="rId8"/>
          <a:stretch>
            <a:fillRect/>
          </a:stretch>
        </p:blipFill>
        <p:spPr>
          <a:xfrm>
            <a:off x="6309360" y="1627632"/>
            <a:ext cx="5120640" cy="2048256"/>
          </a:xfrm>
          <a:prstGeom prst="rect">
            <a:avLst/>
          </a:prstGeom>
          <a:effectLst>
            <a:outerShdw blurRad="152400" dist="38100" dir="5400000" algn="bl" rotWithShape="0">
              <a:srgbClr val="000000">
                <a:alpha val="50000"/>
              </a:srgbClr>
            </a:outerShdw>
          </a:effectLst>
        </p:spPr>
      </p:pic>
      <p:sp>
        <p:nvSpPr>
          <p:cNvPr id="8" name="Text 4"/>
          <p:cNvSpPr txBox="1"/>
          <p:nvPr/>
        </p:nvSpPr>
        <p:spPr>
          <a:xfrm>
            <a:off x="6309360" y="3739896"/>
            <a:ext cx="2468880" cy="256032"/>
          </a:xfrm>
          <a:prstGeom prst="rect">
            <a:avLst/>
          </a:prstGeom>
          <a:noFill/>
          <a:ln/>
        </p:spPr>
        <p:txBody>
          <a:bodyPr wrap="square" lIns="0" tIns="0" rIns="0" bIns="0" rtlCol="0" anchor="ctr"/>
          <a:lstStyle/>
          <a:p>
            <a:pPr marL="0" indent="0">
              <a:buNone/>
            </a:pPr>
            <a:r>
              <a:rPr lang="en-US" sz="1300" b="1" dirty="0">
                <a:solidFill>
                  <a:srgbClr val="EAEFF8"/>
                </a:solidFill>
                <a:latin typeface="Calibri" pitchFamily="34" charset="0"/>
                <a:ea typeface="Calibri" pitchFamily="34" charset="-122"/>
                <a:cs typeface="Calibri" pitchFamily="34" charset="-120"/>
              </a:rPr>
              <a:t>Night</a:t>
            </a:r>
            <a:endParaRPr lang="en-US" sz="1300" dirty="0"/>
          </a:p>
        </p:txBody>
      </p:sp>
      <p:pic>
        <p:nvPicPr>
          <p:cNvPr id="10" name="Image 2" descr="/home/claude/work/shots/evening_wide.png"/>
          <p:cNvPicPr>
            <a:picLocks noChangeAspect="1"/>
          </p:cNvPicPr>
          <p:nvPr/>
        </p:nvPicPr>
        <p:blipFill>
          <a:blip r:embed="rId9"/>
          <a:stretch>
            <a:fillRect/>
          </a:stretch>
        </p:blipFill>
        <p:spPr>
          <a:xfrm>
            <a:off x="768096" y="4279392"/>
            <a:ext cx="5120640" cy="2048256"/>
          </a:xfrm>
          <a:prstGeom prst="rect">
            <a:avLst/>
          </a:prstGeom>
          <a:effectLst>
            <a:outerShdw blurRad="152400" dist="38100" dir="5400000" algn="bl" rotWithShape="0">
              <a:srgbClr val="000000">
                <a:alpha val="50000"/>
              </a:srgbClr>
            </a:outerShdw>
          </a:effectLst>
        </p:spPr>
      </p:pic>
      <p:sp>
        <p:nvSpPr>
          <p:cNvPr id="11" name="Text 6"/>
          <p:cNvSpPr txBox="1"/>
          <p:nvPr/>
        </p:nvSpPr>
        <p:spPr>
          <a:xfrm>
            <a:off x="768096" y="6391656"/>
            <a:ext cx="2468880" cy="256032"/>
          </a:xfrm>
          <a:prstGeom prst="rect">
            <a:avLst/>
          </a:prstGeom>
          <a:noFill/>
          <a:ln/>
        </p:spPr>
        <p:txBody>
          <a:bodyPr wrap="square" lIns="0" tIns="0" rIns="0" bIns="0" rtlCol="0" anchor="ctr"/>
          <a:lstStyle/>
          <a:p>
            <a:pPr marL="0" indent="0">
              <a:buNone/>
            </a:pPr>
            <a:r>
              <a:rPr lang="en-US" sz="1300" b="1" dirty="0">
                <a:solidFill>
                  <a:srgbClr val="EAEFF8"/>
                </a:solidFill>
                <a:latin typeface="Calibri" pitchFamily="34" charset="0"/>
                <a:ea typeface="Calibri" pitchFamily="34" charset="-122"/>
                <a:cs typeface="Calibri" pitchFamily="34" charset="-120"/>
              </a:rPr>
              <a:t>Rain, after pressing R</a:t>
            </a:r>
            <a:endParaRPr lang="en-US" sz="1300" dirty="0"/>
          </a:p>
        </p:txBody>
      </p:sp>
      <p:pic>
        <p:nvPicPr>
          <p:cNvPr id="13" name="Image 3" descr="/home/claude/work/shots/night_wide.png"/>
          <p:cNvPicPr>
            <a:picLocks noChangeAspect="1"/>
          </p:cNvPicPr>
          <p:nvPr/>
        </p:nvPicPr>
        <p:blipFill>
          <a:blip r:embed="rId10"/>
          <a:stretch>
            <a:fillRect/>
          </a:stretch>
        </p:blipFill>
        <p:spPr>
          <a:xfrm>
            <a:off x="6309360" y="4279392"/>
            <a:ext cx="5120640" cy="2048256"/>
          </a:xfrm>
          <a:prstGeom prst="rect">
            <a:avLst/>
          </a:prstGeom>
          <a:effectLst>
            <a:outerShdw blurRad="152400" dist="38100" dir="5400000" algn="bl" rotWithShape="0">
              <a:srgbClr val="000000">
                <a:alpha val="50000"/>
              </a:srgbClr>
            </a:outerShdw>
          </a:effectLst>
        </p:spPr>
      </p:pic>
      <p:sp>
        <p:nvSpPr>
          <p:cNvPr id="14" name="Text 8"/>
          <p:cNvSpPr txBox="1"/>
          <p:nvPr/>
        </p:nvSpPr>
        <p:spPr>
          <a:xfrm>
            <a:off x="6309360" y="6391656"/>
            <a:ext cx="2468880" cy="256032"/>
          </a:xfrm>
          <a:prstGeom prst="rect">
            <a:avLst/>
          </a:prstGeom>
          <a:noFill/>
          <a:ln/>
        </p:spPr>
        <p:txBody>
          <a:bodyPr wrap="square" lIns="0" tIns="0" rIns="0" bIns="0" rtlCol="0" anchor="ctr"/>
          <a:lstStyle/>
          <a:p>
            <a:pPr marL="0" indent="0">
              <a:buNone/>
            </a:pPr>
            <a:r>
              <a:rPr lang="en-US" sz="1300" b="1" dirty="0">
                <a:solidFill>
                  <a:srgbClr val="EAEFF8"/>
                </a:solidFill>
                <a:latin typeface="Calibri" pitchFamily="34" charset="0"/>
                <a:ea typeface="Calibri" pitchFamily="34" charset="-122"/>
                <a:cs typeface="Calibri" pitchFamily="34" charset="-120"/>
              </a:rPr>
              <a:t>Both trains crossing</a:t>
            </a:r>
            <a:endParaRPr lang="en-US" sz="1300" dirty="0"/>
          </a:p>
        </p:txBody>
      </p:sp>
      <p:sp>
        <p:nvSpPr>
          <p:cNvPr id="16" name="Text 10"/>
          <p:cNvSpPr txBox="1"/>
          <p:nvPr/>
        </p:nvSpPr>
        <p:spPr>
          <a:xfrm>
            <a:off x="11222431" y="457200"/>
            <a:ext cx="384048" cy="292608"/>
          </a:xfrm>
          <a:prstGeom prst="rect">
            <a:avLst/>
          </a:prstGeom>
          <a:noFill/>
          <a:ln/>
        </p:spPr>
        <p:txBody>
          <a:bodyPr wrap="square" lIns="0" tIns="0" rIns="0" bIns="0" rtlCol="0" anchor="ctr"/>
          <a:lstStyle/>
          <a:p>
            <a:pPr marL="0" indent="0" algn="r">
              <a:buNone/>
            </a:pPr>
            <a:r>
              <a:rPr lang="en-US" sz="1100" dirty="0">
                <a:solidFill>
                  <a:srgbClr val="97A7C7"/>
                </a:solidFill>
                <a:latin typeface="Courier New" pitchFamily="34" charset="0"/>
                <a:ea typeface="Courier New" pitchFamily="34" charset="-122"/>
                <a:cs typeface="Courier New" pitchFamily="34" charset="-120"/>
              </a:rPr>
              <a:t>5</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01C3D"/>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8778240" cy="658368"/>
          </a:xfrm>
          <a:prstGeom prst="rect">
            <a:avLst/>
          </a:prstGeom>
          <a:noFill/>
          <a:ln/>
        </p:spPr>
        <p:txBody>
          <a:bodyPr wrap="square" lIns="0" tIns="0" rIns="0" bIns="0" rtlCol="0" anchor="ctr"/>
          <a:lstStyle/>
          <a:p>
            <a:pPr marL="0" indent="0">
              <a:buNone/>
            </a:pPr>
            <a:r>
              <a:rPr lang="en-US" sz="3400" b="1" dirty="0">
                <a:solidFill>
                  <a:srgbClr val="EAEFF8"/>
                </a:solidFill>
                <a:latin typeface="Cambria" pitchFamily="34" charset="0"/>
                <a:ea typeface="Cambria" pitchFamily="34" charset="-122"/>
                <a:cs typeface="Cambria" pitchFamily="34" charset="-120"/>
              </a:rPr>
              <a:t>Screenshots</a:t>
            </a:r>
            <a:endParaRPr lang="en-US" sz="3400" dirty="0"/>
          </a:p>
        </p:txBody>
      </p:sp>
      <p:sp>
        <p:nvSpPr>
          <p:cNvPr id="3" name="Text 1"/>
          <p:cNvSpPr txBox="1"/>
          <p:nvPr/>
        </p:nvSpPr>
        <p:spPr>
          <a:xfrm>
            <a:off x="658368" y="1042416"/>
            <a:ext cx="10424160" cy="310896"/>
          </a:xfrm>
          <a:prstGeom prst="rect">
            <a:avLst/>
          </a:prstGeom>
          <a:noFill/>
          <a:ln/>
        </p:spPr>
        <p:txBody>
          <a:bodyPr wrap="square" lIns="0" tIns="0" rIns="0" bIns="0" rtlCol="0" anchor="ctr"/>
          <a:lstStyle/>
          <a:p>
            <a:pPr marL="0" indent="0">
              <a:buNone/>
            </a:pPr>
            <a:r>
              <a:rPr lang="en-US" sz="1300" i="1" dirty="0">
                <a:solidFill>
                  <a:srgbClr val="F0C43C"/>
                </a:solidFill>
                <a:latin typeface="Calibri" pitchFamily="34" charset="0"/>
                <a:ea typeface="Calibri" pitchFamily="34" charset="-122"/>
                <a:cs typeface="Calibri" pitchFamily="34" charset="-120"/>
              </a:rPr>
              <a:t>The two moments the scene is built around</a:t>
            </a:r>
            <a:endParaRPr lang="en-US" sz="1300" dirty="0"/>
          </a:p>
        </p:txBody>
      </p:sp>
      <p:pic>
        <p:nvPicPr>
          <p:cNvPr id="4" name="Image 0" descr="/home/claude/work/shots/through_train.png"/>
          <p:cNvPicPr>
            <a:picLocks noChangeAspect="1"/>
          </p:cNvPicPr>
          <p:nvPr/>
        </p:nvPicPr>
        <p:blipFill>
          <a:blip r:embed="rId5"/>
          <a:stretch>
            <a:fillRect/>
          </a:stretch>
        </p:blipFill>
        <p:spPr>
          <a:xfrm>
            <a:off x="658368" y="1737360"/>
            <a:ext cx="5358384" cy="2679192"/>
          </a:xfrm>
          <a:prstGeom prst="rect">
            <a:avLst/>
          </a:prstGeom>
          <a:effectLst>
            <a:outerShdw blurRad="152400" dist="38100" dir="5400000" algn="bl" rotWithShape="0">
              <a:srgbClr val="000000">
                <a:alpha val="50000"/>
              </a:srgbClr>
            </a:outerShdw>
          </a:effectLst>
        </p:spPr>
      </p:pic>
      <p:sp>
        <p:nvSpPr>
          <p:cNvPr id="5" name="Text 2"/>
          <p:cNvSpPr txBox="1"/>
          <p:nvPr/>
        </p:nvSpPr>
        <p:spPr>
          <a:xfrm>
            <a:off x="658368" y="4535424"/>
            <a:ext cx="5358384" cy="274320"/>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The through train, called across</a:t>
            </a:r>
            <a:endParaRPr lang="en-US" sz="1400" dirty="0"/>
          </a:p>
        </p:txBody>
      </p:sp>
      <p:sp>
        <p:nvSpPr>
          <p:cNvPr id="6" name="Text 3"/>
          <p:cNvSpPr txBox="1"/>
          <p:nvPr/>
        </p:nvSpPr>
        <p:spPr>
          <a:xfrm>
            <a:off x="658368" y="4846320"/>
            <a:ext cx="5358384" cy="1005840"/>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The through train waits out of sight until the RIGHT arrow is pressed, then crosses once in about seven seconds with its whistle. Pressing again mid-crossing does nothing, so one press is always one pass.</a:t>
            </a:r>
            <a:endParaRPr lang="en-US" sz="1150" dirty="0"/>
          </a:p>
        </p:txBody>
      </p:sp>
      <p:pic>
        <p:nvPicPr>
          <p:cNvPr id="7" name="Image 1" descr="/home/claude/work/shots/dusk.png"/>
          <p:cNvPicPr>
            <a:picLocks noChangeAspect="1"/>
          </p:cNvPicPr>
          <p:nvPr/>
        </p:nvPicPr>
        <p:blipFill>
          <a:blip r:embed="rId6"/>
          <a:stretch>
            <a:fillRect/>
          </a:stretch>
        </p:blipFill>
        <p:spPr>
          <a:xfrm>
            <a:off x="6437376" y="1737360"/>
            <a:ext cx="5358384" cy="2679192"/>
          </a:xfrm>
          <a:prstGeom prst="rect">
            <a:avLst/>
          </a:prstGeom>
          <a:effectLst>
            <a:outerShdw blurRad="152400" dist="38100" dir="5400000" algn="bl" rotWithShape="0">
              <a:srgbClr val="000000">
                <a:alpha val="50000"/>
              </a:srgbClr>
            </a:outerShdw>
          </a:effectLst>
        </p:spPr>
      </p:pic>
      <p:sp>
        <p:nvSpPr>
          <p:cNvPr id="8" name="Text 4"/>
          <p:cNvSpPr txBox="1"/>
          <p:nvPr/>
        </p:nvSpPr>
        <p:spPr>
          <a:xfrm>
            <a:off x="6437376" y="4535424"/>
            <a:ext cx="5358384" cy="274320"/>
          </a:xfrm>
          <a:prstGeom prst="rect">
            <a:avLst/>
          </a:prstGeom>
          <a:noFill/>
          <a:ln/>
        </p:spPr>
        <p:txBody>
          <a:bodyPr wrap="square" lIns="0" tIns="0" rIns="0" bIns="0" rtlCol="0" anchor="ctr"/>
          <a:lstStyle/>
          <a:p>
            <a:pPr marL="0" indent="0">
              <a:buNone/>
            </a:pPr>
            <a:r>
              <a:rPr lang="en-US" sz="1400" b="1" dirty="0">
                <a:solidFill>
                  <a:srgbClr val="EAEFF8"/>
                </a:solidFill>
                <a:latin typeface="Calibri" pitchFamily="34" charset="0"/>
                <a:ea typeface="Calibri" pitchFamily="34" charset="-122"/>
                <a:cs typeface="Calibri" pitchFamily="34" charset="-120"/>
              </a:rPr>
              <a:t>Rain, held on the R key</a:t>
            </a:r>
            <a:endParaRPr lang="en-US" sz="1400" dirty="0"/>
          </a:p>
        </p:txBody>
      </p:sp>
      <p:sp>
        <p:nvSpPr>
          <p:cNvPr id="9" name="Text 5"/>
          <p:cNvSpPr txBox="1"/>
          <p:nvPr/>
        </p:nvSpPr>
        <p:spPr>
          <a:xfrm>
            <a:off x="6437376" y="4846320"/>
            <a:ext cx="5358384" cy="1005840"/>
          </a:xfrm>
          <a:prstGeom prst="rect">
            <a:avLst/>
          </a:prstGeom>
          <a:noFill/>
          <a:ln/>
        </p:spPr>
        <p:txBody>
          <a:bodyPr wrap="square" lIns="0" tIns="0" rIns="0" bIns="0" rtlCol="0" anchor="ctr"/>
          <a:lstStyle/>
          <a:p>
            <a:pPr marL="0" indent="0">
              <a:lnSpc>
                <a:spcPts val="1500"/>
              </a:lnSpc>
              <a:buNone/>
            </a:pPr>
            <a:r>
              <a:rPr lang="en-US" sz="1150" dirty="0">
                <a:solidFill>
                  <a:srgbClr val="97A7C7"/>
                </a:solidFill>
                <a:latin typeface="Calibri" pitchFamily="34" charset="0"/>
                <a:ea typeface="Calibri" pitchFamily="34" charset="-122"/>
                <a:cs typeface="Calibri" pitchFamily="34" charset="-120"/>
              </a:rPr>
              <a:t>Pressing R starts the rain and stops the clock where it stands, so the hour stops turning until R is pressed again. The daylight greys down and the rain falls in front of everything, trains included.</a:t>
            </a:r>
            <a:endParaRPr lang="en-US" sz="1150" dirty="0"/>
          </a:p>
        </p:txBody>
      </p:sp>
      <p:sp>
        <p:nvSpPr>
          <p:cNvPr id="10" name="Text 6"/>
          <p:cNvSpPr txBox="1"/>
          <p:nvPr/>
        </p:nvSpPr>
        <p:spPr>
          <a:xfrm>
            <a:off x="11222431" y="457200"/>
            <a:ext cx="384048" cy="292608"/>
          </a:xfrm>
          <a:prstGeom prst="rect">
            <a:avLst/>
          </a:prstGeom>
          <a:noFill/>
          <a:ln/>
        </p:spPr>
        <p:txBody>
          <a:bodyPr wrap="square" lIns="0" tIns="0" rIns="0" bIns="0" rtlCol="0" anchor="ctr"/>
          <a:lstStyle/>
          <a:p>
            <a:pPr marL="0" indent="0" algn="r">
              <a:buNone/>
            </a:pPr>
            <a:r>
              <a:rPr lang="en-US" sz="1100" dirty="0">
                <a:solidFill>
                  <a:srgbClr val="97A7C7"/>
                </a:solidFill>
                <a:latin typeface="Courier New" pitchFamily="34" charset="0"/>
                <a:ea typeface="Courier New" pitchFamily="34" charset="-122"/>
                <a:cs typeface="Courier New" pitchFamily="34" charset="-120"/>
              </a:rPr>
              <a:t>6</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43</cp:revision>
  <dcterms:created xsi:type="dcterms:W3CDTF">2026-08-31T00:24:41Z</dcterms:created>
  <dcterms:modified xsi:type="dcterms:W3CDTF">2026-08-31T03:34:50Z</dcterms:modified>
</cp:coreProperties>
</file>